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800" cy="3200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Predicting 30-Day Hospital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38BDF8"/>
                </a:solidFill>
                <a:latin typeface="Calibri"/>
              </a:defRPr>
            </a:pPr>
            <a:r>
              <a:t>Readmissions Using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An Explainable AI Approach to Reducing Preventable Readmissions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749039"/>
            <a:ext cx="2743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Raj Panchal  •  200490453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CS 719 – Data Science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University of Regina  •  Dr. Hamilton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261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Problem &amp; Motivation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361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Why hospital readmissions matter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1847088"/>
            <a:ext cx="411480" cy="4114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Data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103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130 US hospitals, 101K+ encounters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414016"/>
            <a:ext cx="411480" cy="4114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957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Approach &amp;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End-to-end ML methodology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2980944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962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3697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Cleaning &amp; feature engineering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3547872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295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Model Training &amp; 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80390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Three classifiers with GridSearchCV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4114800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965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Results &amp; 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370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Model comparison &amp; threshold tuning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681728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9377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Feature importance &amp; partial dependence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" y="5248656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2303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Patient Risk 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5046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Low, Medium &amp; High risk cases</a:t>
            </a:r>
          </a:p>
        </p:txBody>
      </p:sp>
      <p:sp>
        <p:nvSpPr>
          <p:cNvPr id="32" name="Oval 31"/>
          <p:cNvSpPr/>
          <p:nvPr/>
        </p:nvSpPr>
        <p:spPr>
          <a:xfrm>
            <a:off x="731520" y="5815584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7972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Conclusions &amp; Live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607161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Key findings &amp; dashboard walkthrough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1371600"/>
            <a:ext cx="4754880" cy="4754880"/>
          </a:xfrm>
          <a:prstGeom prst="roundRect">
            <a:avLst>
              <a:gd name="adj" fmla="val 2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16459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Calibri"/>
              </a:defRPr>
            </a:pPr>
            <a:r>
              <a:t>Project at a Glance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0" y="2057400"/>
            <a:ext cx="109728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D5E1"/>
                </a:solidFill>
                <a:latin typeface="Calibri"/>
              </a:defRPr>
            </a:pPr>
            <a:r>
              <a:t>101,766 patient encounters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2834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D5E1"/>
                </a:solidFill>
                <a:latin typeface="Calibri"/>
              </a:defRPr>
            </a:pPr>
            <a:r>
              <a:t>46 predictive features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D5E1"/>
                </a:solidFill>
                <a:latin typeface="Calibri"/>
              </a:defRPr>
            </a:pPr>
            <a:r>
              <a:t>XGBoost best model (ROC-AUC 0.665)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393191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93191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D5E1"/>
                </a:solidFill>
                <a:latin typeface="Calibri"/>
              </a:defRPr>
            </a:pPr>
            <a:r>
              <a:t>Threshold: 0.50 → 0.20 (9x recall)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4480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D5E1"/>
                </a:solidFill>
                <a:latin typeface="Calibri"/>
              </a:defRPr>
            </a:pPr>
            <a:r>
              <a:t>Explainable AI (PFI + PDP)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029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D5E1"/>
                </a:solidFill>
                <a:latin typeface="Calibri"/>
              </a:defRPr>
            </a:pPr>
            <a:r>
              <a:t>Interactive Streamlit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&amp;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Why predicting readmissions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474720" cy="22860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34747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8BDF8"/>
                </a:solidFill>
                <a:latin typeface="Calibri"/>
              </a:defRPr>
            </a:pPr>
            <a:r>
              <a:t>$26B+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Preventable readmissions</a:t>
            </a:r>
            <a:br/>
            <a:r>
              <a:t>cost the US healthcare</a:t>
            </a:r>
            <a:br/>
            <a:r>
              <a:t>system billions yearly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371600"/>
            <a:ext cx="3474720" cy="22860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371600"/>
            <a:ext cx="3474720" cy="50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6002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B923C"/>
                </a:solidFill>
                <a:latin typeface="Calibri"/>
              </a:defRPr>
            </a:pPr>
            <a:r>
              <a:t>11.4%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Readmission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560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Nearly 1 in 9 diabetic</a:t>
            </a:r>
            <a:br/>
            <a:r>
              <a:t>patients are readmitted</a:t>
            </a:r>
            <a:br/>
            <a:r>
              <a:t>within 30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371600"/>
            <a:ext cx="3474720" cy="22860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371600"/>
            <a:ext cx="347472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6002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7171"/>
                </a:solidFill>
                <a:latin typeface="Calibri"/>
              </a:defRPr>
            </a:pPr>
            <a:r>
              <a:t>3,300+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Daily Readmissions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560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Hospitals face penalties</a:t>
            </a:r>
            <a:br/>
            <a:r>
              <a:t>under CMS Hospital</a:t>
            </a:r>
            <a:br/>
            <a:r>
              <a:t>Readmissions Reduction Program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23360"/>
            <a:ext cx="11064240" cy="228600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023360"/>
            <a:ext cx="63500" cy="2286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PROJECT GOAL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617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Build an explainable ML model that identifies high-risk diabetic patients before discharge,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983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enabling targeted interventions to reduce preventable 30-day readmissions.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577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INPUT: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577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Patient demographics, diagnoses, medications, visit 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77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OUTPUT: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577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Risk probability + explainable feature contributions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UCI Diabetes 130-US Hospitals Dataset (1999–2008)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560320" cy="118872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8BDF8"/>
                </a:solidFill>
                <a:latin typeface="Calibri"/>
              </a:defRPr>
            </a:pPr>
            <a:r>
              <a:t>101,766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Patient Encounters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371600"/>
            <a:ext cx="2560320" cy="118872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508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A78BFA"/>
                </a:solidFill>
                <a:latin typeface="Calibri"/>
              </a:defRPr>
            </a:pPr>
            <a:r>
              <a:t>130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11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US Hospitals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34640"/>
            <a:ext cx="2560320" cy="118872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71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D399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74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Original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2834640"/>
            <a:ext cx="2560320" cy="118872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2971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BBF24"/>
                </a:solidFill>
                <a:latin typeface="Calibri"/>
              </a:defRPr>
            </a:pPr>
            <a:r>
              <a:t>10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Data Span (1999–2008)</a:t>
            </a:r>
          </a:p>
        </p:txBody>
      </p:sp>
      <p:pic>
        <p:nvPicPr>
          <p:cNvPr id="21" name="Picture 20" descr="cell_18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29184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48640" y="4572000"/>
            <a:ext cx="11064240" cy="182880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63500" cy="1828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709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alibri"/>
              </a:defRPr>
            </a:pPr>
            <a:r>
              <a:t>KEY CHALLENGE: CLASS IMBALANCE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074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88.6% Not Readmitted vs 11.4% Readmitted — highly imbalanced binary classification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394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SMOTE applied on training set only (79K → 141K samples) to prevent data leakage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715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Stratified 80/20 train-test split preserves class ratios in evaluation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03503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Features include: demographics, diagnoses (ICD-9), medications, lab procedures, visit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Approach: ML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End-to-end methodology from raw data to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45920"/>
            <a:ext cx="1737360" cy="36576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173736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Cleaning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1887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Remove nulls,</a:t>
            </a:r>
            <a:br/>
            <a:r>
              <a:t>invalid records,</a:t>
            </a:r>
            <a:br/>
            <a:r>
              <a:t>high-cardinality cols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48840" y="3108960"/>
            <a:ext cx="164592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04288" y="1645920"/>
            <a:ext cx="1737360" cy="36576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04288" y="1645920"/>
            <a:ext cx="17373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52928" y="1874520"/>
            <a:ext cx="548640" cy="54864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26517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  <a:br/>
            <a:r>
              <a:t>Engineering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78608" y="3474720"/>
            <a:ext cx="11887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5728" y="36576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Create total_visits,</a:t>
            </a:r>
            <a:br/>
            <a:r>
              <a:t>med counts, ICD-9</a:t>
            </a:r>
            <a:br/>
            <a:r>
              <a:t>mapping, age numeric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087368" y="3108960"/>
            <a:ext cx="164592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42816" y="1645920"/>
            <a:ext cx="1737360" cy="36576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42816" y="1645920"/>
            <a:ext cx="17373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91456" y="1874520"/>
            <a:ext cx="548640" cy="54864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26517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Balancing</a:t>
            </a:r>
            <a:br/>
            <a:r>
              <a:t>(SMOTE)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7136" y="3474720"/>
            <a:ext cx="118872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36576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Oversample minority</a:t>
            </a:r>
            <a:br/>
            <a:r>
              <a:t>class on training</a:t>
            </a:r>
            <a:br/>
            <a:r>
              <a:t>set only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25896" y="3108960"/>
            <a:ext cx="164592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1344" y="1645920"/>
            <a:ext cx="1737360" cy="36576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81344" y="1645920"/>
            <a:ext cx="17373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1874520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2784" y="26517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55664" y="3474720"/>
            <a:ext cx="118872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2784" y="36576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Logistic Regression,</a:t>
            </a:r>
            <a:br/>
            <a:r>
              <a:t>Random Forest,</a:t>
            </a:r>
            <a:br/>
            <a:r>
              <a:t>XGBoost + GridSearchCV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964424" y="3108960"/>
            <a:ext cx="164592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19872" y="1645920"/>
            <a:ext cx="1737360" cy="36576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19872" y="1645920"/>
            <a:ext cx="17373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68512" y="1874520"/>
            <a:ext cx="548640" cy="5486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26517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Threshold</a:t>
            </a:r>
            <a:br/>
            <a:r>
              <a:t>Tuning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94192" y="3474720"/>
            <a:ext cx="11887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1312" y="36576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Optimize threshold</a:t>
            </a:r>
            <a:br/>
            <a:r>
              <a:t>for clinical recall</a:t>
            </a:r>
            <a:br/>
            <a:r>
              <a:t>(0.50 → 0.20)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902952" y="3108960"/>
            <a:ext cx="164592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058400" y="1645920"/>
            <a:ext cx="1737360" cy="365760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58400" y="1645920"/>
            <a:ext cx="1737360" cy="50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07040" y="1874520"/>
            <a:ext cx="548640" cy="54864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40" y="26517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Explainability</a:t>
            </a:r>
            <a:br/>
            <a:r>
              <a:t>&amp; Dashboard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32720" y="3474720"/>
            <a:ext cx="118872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0" y="36576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PFI, PDP analysis,</a:t>
            </a:r>
            <a:br/>
            <a:r>
              <a:t>Streamlit interactive</a:t>
            </a:r>
            <a:br/>
            <a:r>
              <a:t>dashboard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Stratified 80/20 split  •  StandardScaler normalization  •  5-fold cross-validation  •  ROC-AUC as primary metric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Cleaning, encoding &amp;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560320" cy="201168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256032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7171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101,766 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50 columns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Missing values, noise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200400" y="2103120"/>
            <a:ext cx="365760" cy="3657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49039" y="1371600"/>
            <a:ext cx="2560320" cy="201168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1371600"/>
            <a:ext cx="25603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1920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99,340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46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651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Clean, encoded, balanced</a:t>
            </a:r>
          </a:p>
        </p:txBody>
      </p:sp>
      <p:pic>
        <p:nvPicPr>
          <p:cNvPr id="22" name="Picture 21" descr="cell_23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237744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48640" y="3749039"/>
            <a:ext cx="11064240" cy="256032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206240"/>
            <a:ext cx="109728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43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total_visits = outpatient + emergency + inpatient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num_med_changed = count of meds adjusted (Up/Down)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074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num_med_active = count of active medications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343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age_numeric = midpoint of age bracket (e.g. [70-80) → 75)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ICD-9 diagnosis mapping to 9 clinical categories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74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One-hot encoding of categorical features (23 → 46 features)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486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Dropped 4 high-null columns (weight, medical_specialty, max_glu_serum, A1Cresult)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806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Removed expired/hospice records (2,426 rows) •  Dropped 2 zero-variance columns •  Removed ID columns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Model Training &amp; 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Three classifiers with GridSearchCV hyperparameter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566160" cy="384048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356616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659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C=0.01, solver='lbfgs'</a:t>
            </a:r>
            <a:br/>
            <a:r>
              <a:t>max_iter=1000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606040"/>
            <a:ext cx="310896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ROC-AUC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788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38BDF8"/>
                </a:solidFill>
                <a:latin typeface="Calibri"/>
              </a:defRPr>
            </a:pPr>
            <a:r>
              <a:t>0.642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337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0.641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F1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886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0.705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348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CV ROC-AUC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434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94A3B8"/>
                </a:solidFill>
                <a:latin typeface="Calibri"/>
              </a:defRPr>
            </a:pPr>
            <a:r>
              <a:t>0.654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371600"/>
            <a:ext cx="3566160" cy="384048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1371600"/>
            <a:ext cx="35661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659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n_estimators=200</a:t>
            </a:r>
            <a:br/>
            <a:r>
              <a:t>max_depth=20, min_split=5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2606040"/>
            <a:ext cx="310896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ROC-AUC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788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A78BFA"/>
                </a:solidFill>
                <a:latin typeface="Calibri"/>
              </a:defRPr>
            </a:pPr>
            <a:r>
              <a:t>0.647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Accuracy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337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0.885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F1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0.837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4348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CV ROC-AUC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434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94A3B8"/>
                </a:solidFill>
                <a:latin typeface="Calibri"/>
              </a:defRPr>
            </a:pPr>
            <a:r>
              <a:t>0.971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371600"/>
            <a:ext cx="3566160" cy="384048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1371600"/>
            <a:ext cx="35661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332720" y="1508760"/>
            <a:ext cx="1188720" cy="320040"/>
          </a:xfrm>
          <a:prstGeom prst="roundRect">
            <a:avLst>
              <a:gd name="adj" fmla="val 5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78440" y="1508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SELECTED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1554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19659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learning_rate=0.05</a:t>
            </a:r>
            <a:br/>
            <a:r>
              <a:t>max_depth=8, n_est=100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60" y="2606040"/>
            <a:ext cx="310896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ROC-AUC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2788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0.665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Accuracy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3337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Test F1 Score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3886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0.841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4348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CV ROC-AUC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434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94A3B8"/>
                </a:solidFill>
                <a:latin typeface="Calibri"/>
              </a:defRPr>
            </a:pPr>
            <a:r>
              <a:t>0.957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5486400"/>
            <a:ext cx="11247120" cy="82296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486400"/>
            <a:ext cx="63500" cy="8229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5840" y="5577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XGBoost selected as best model: highest test ROC-AUC (0.665), best precision (0.845), and competitive F1 score (0.841)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Model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ROC curves, confusion matrices &amp; cross-validation 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pic>
        <p:nvPicPr>
          <p:cNvPr id="9" name="Picture 8" descr="cell_38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114800" cy="3474720"/>
          </a:xfrm>
          <a:prstGeom prst="rect">
            <a:avLst/>
          </a:prstGeom>
        </p:spPr>
      </p:pic>
      <p:pic>
        <p:nvPicPr>
          <p:cNvPr id="10" name="Picture 9" descr="cell_37_ou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7132320" cy="2560320"/>
          </a:xfrm>
          <a:prstGeom prst="rect">
            <a:avLst/>
          </a:prstGeom>
        </p:spPr>
      </p:pic>
      <p:pic>
        <p:nvPicPr>
          <p:cNvPr id="11" name="Picture 10" descr="cell_41_out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840480"/>
            <a:ext cx="4114800" cy="2468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65760" y="4846320"/>
            <a:ext cx="4114800" cy="146304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846320"/>
            <a:ext cx="63500" cy="14630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All models outperform random baseline</a:t>
            </a:r>
            <a:br/>
            <a:r>
              <a:t>• XGBoost: best ROC-AUC = 0.6648</a:t>
            </a:r>
            <a:br/>
            <a:r>
              <a:t>• RF &amp; XGBoost show high CV stability</a:t>
            </a:r>
          </a:p>
        </p:txBody>
      </p:sp>
      <p:pic>
        <p:nvPicPr>
          <p:cNvPr id="16" name="Picture 15" descr="cell_40_out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840480"/>
            <a:ext cx="32004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Threshold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Tuning classification threshold for clinical utility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pic>
        <p:nvPicPr>
          <p:cNvPr id="9" name="Picture 8" descr="cell_49_ou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02920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720" y="1280160"/>
            <a:ext cx="2926080" cy="329184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1280160"/>
            <a:ext cx="292608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463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87171"/>
                </a:solidFill>
                <a:latin typeface="Calibri"/>
              </a:defRPr>
            </a:pPr>
            <a:r>
              <a:t>DEFAULT (T = 0.50)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237744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965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87171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468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F1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971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474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474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023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7171"/>
                </a:solidFill>
                <a:latin typeface="Calibri"/>
              </a:defRPr>
            </a:pPr>
            <a:r>
              <a:t>Catches only 4% of</a:t>
            </a:r>
            <a:br/>
            <a:r>
              <a:t>actual readmissions!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1280160"/>
            <a:ext cx="2926080" cy="329184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20" y="1280160"/>
            <a:ext cx="292608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1463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Calibri"/>
              </a:defRPr>
            </a:pPr>
            <a:r>
              <a:t>OPTIMAL (T = 0.20)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783080"/>
            <a:ext cx="237744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1965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35%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468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F1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2971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474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3474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79%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4023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9x improvement in</a:t>
            </a:r>
            <a:br/>
            <a:r>
              <a:t>catching readmissions!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5303520"/>
            <a:ext cx="11430000" cy="109728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63500" cy="10972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94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715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In healthcare, missing a high-risk patient (false negative) is far more costly than a false alarm. Lowering the threshold trades some precision for dramatically better recall — the model now flags 35% of readmissions vs. just 4%, enabling proactive clinical interventions.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Explainability: Feature Importance &amp; PDP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Understanding what drives readmission predictions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pic>
        <p:nvPicPr>
          <p:cNvPr id="9" name="Picture 8" descr="cell_45_ou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669280" cy="3657600"/>
          </a:xfrm>
          <a:prstGeom prst="rect">
            <a:avLst/>
          </a:prstGeom>
        </p:spPr>
      </p:pic>
      <p:pic>
        <p:nvPicPr>
          <p:cNvPr id="10" name="Picture 9" descr="cell_47_ou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200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74320" y="5029200"/>
            <a:ext cx="5669280" cy="137160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5029200"/>
            <a:ext cx="63500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PERMUTATION FEATURE IMPORTANCE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number_inpatient is the #1 predictor (5.7% ROC-AUC drop)</a:t>
            </a:r>
            <a:br/>
            <a:r>
              <a:t>• discharge_disposition_id ranks #2 (4.5% drop)</a:t>
            </a:r>
            <a:br/>
            <a:r>
              <a:t>• Top 2 features dominate; remaining features contribute modestly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572000"/>
            <a:ext cx="5669280" cy="182880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572000"/>
            <a:ext cx="63500" cy="1828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PARTIAL DEPENDENCE PLOTS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9834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• Prior inpatient visits: risk rises sharply from 0→3 visits</a:t>
            </a:r>
            <a:br/>
            <a:r>
              <a:t>• Discharge disposition: certain discharge types carry higher risk</a:t>
            </a:r>
            <a:br/>
            <a:r>
              <a:t>• Time in hospital &amp; diagnoses show gradual, smaller effects</a:t>
            </a:r>
            <a:br/>
            <a:r>
              <a:t>• These PDPs confirm the model learns clinically plausible patterns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Example: Patient Risk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Three patient profiles — Low, Medium &amp; High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657600" cy="493776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365760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1463040"/>
            <a:ext cx="2194560" cy="411480"/>
          </a:xfrm>
          <a:prstGeom prst="roundRect">
            <a:avLst>
              <a:gd name="adj" fmla="val 5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LOW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  <a:latin typeface="Calibri"/>
              </a:defRPr>
            </a:pPr>
            <a:r>
              <a:t>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Readmission Probability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34640"/>
            <a:ext cx="29260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Calibri"/>
              </a:defRPr>
            </a:pPr>
            <a:r>
              <a:t>Age 35, 0 inpatient visits</a:t>
            </a:r>
            <a:br/>
            <a:r>
              <a:t>8 meds, 2 days, 3 diagnoses</a:t>
            </a:r>
          </a:p>
        </p:txBody>
      </p:sp>
      <p:pic>
        <p:nvPicPr>
          <p:cNvPr id="17" name="Picture 16" descr="cell_59_ou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49039"/>
            <a:ext cx="3474720" cy="210312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251960" y="1280160"/>
            <a:ext cx="3657600" cy="493776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280160"/>
            <a:ext cx="3657600" cy="50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83480" y="1463040"/>
            <a:ext cx="2194560" cy="411480"/>
          </a:xfrm>
          <a:prstGeom prst="roundRect">
            <a:avLst>
              <a:gd name="adj" fmla="val 5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14630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MEDIUM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0116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B923C"/>
                </a:solidFill>
                <a:latin typeface="Calibri"/>
              </a:defRPr>
            </a:pPr>
            <a:r>
              <a:t>24%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514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Readmission Probability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2834640"/>
            <a:ext cx="292608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2971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Calibri"/>
              </a:defRPr>
            </a:pPr>
            <a:r>
              <a:t>Age 65, 2 inpatient visits</a:t>
            </a:r>
            <a:br/>
            <a:r>
              <a:t>15 meds, 5 days, 7 diagnoses</a:t>
            </a:r>
          </a:p>
        </p:txBody>
      </p:sp>
      <p:pic>
        <p:nvPicPr>
          <p:cNvPr id="26" name="Picture 25" descr="cell_57_ou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749039"/>
            <a:ext cx="3474720" cy="210312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138160" y="1280160"/>
            <a:ext cx="3657600" cy="493776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1280160"/>
            <a:ext cx="365760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869680" y="1463040"/>
            <a:ext cx="2194560" cy="411480"/>
          </a:xfrm>
          <a:prstGeom prst="roundRect">
            <a:avLst>
              <a:gd name="adj" fmla="val 5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0" y="14630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0116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7171"/>
                </a:solidFill>
                <a:latin typeface="Calibri"/>
              </a:defRPr>
            </a:pPr>
            <a:r>
              <a:t>59%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514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Readmission Probability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2834640"/>
            <a:ext cx="29260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971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Calibri"/>
              </a:defRPr>
            </a:pPr>
            <a:r>
              <a:t>Age 75, 5 inpatient visits</a:t>
            </a:r>
            <a:br/>
            <a:r>
              <a:t>22 meds, 8 days, 9 diagnoses</a:t>
            </a:r>
          </a:p>
        </p:txBody>
      </p:sp>
      <p:pic>
        <p:nvPicPr>
          <p:cNvPr id="35" name="Picture 34" descr="cell_61_out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749039"/>
            <a:ext cx="34747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Summary of achievements and 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CS 719 • Raj Panchal (200490453)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5486400" cy="502920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63500" cy="5029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WHAT WAS ACHIEVED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783080"/>
            <a:ext cx="1371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965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9659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Built end-to-end ML pipeline for 30-day</a:t>
            </a:r>
            <a:br/>
            <a:r>
              <a:t>   readmission prediction on 101K+ patient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603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Trained &amp; compared 3 models; selected XGBoost</a:t>
            </a:r>
            <a:br/>
            <a:r>
              <a:t>   with best ROC-AUC of 0.665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54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546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Optimized threshold (0.50 → 0.20) achieving 9x</a:t>
            </a:r>
            <a:br/>
            <a:r>
              <a:t>   improvement in recall (4% → 35%)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490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7490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Applied explainable AI techniques (PFI + PDP)</a:t>
            </a:r>
            <a:br/>
            <a:r>
              <a:t>   to identify key risk 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434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3434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Developed interactive Streamlit dashboard with</a:t>
            </a:r>
            <a:br/>
            <a:r>
              <a:t>   real-time risk assessment &amp; LACE comparison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280160"/>
            <a:ext cx="5486400" cy="5029200"/>
          </a:xfrm>
          <a:prstGeom prst="roundRect">
            <a:avLst>
              <a:gd name="adj" fmla="val 1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280160"/>
            <a:ext cx="63500" cy="5029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1783080"/>
            <a:ext cx="13716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196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Prior Inpatient Visits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Strongest single predictor of readmission</a:t>
            </a:r>
            <a:br/>
            <a:r>
              <a:t>(5.7% ROC-AUC decrease when shuffled)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Calibri"/>
              </a:defRPr>
            </a:pPr>
            <a:r>
              <a:t>Discharge Disposition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788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Second most important — certain discharge</a:t>
            </a:r>
            <a:br/>
            <a:r>
              <a:t>types carry significantly higher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154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923C"/>
                </a:solidFill>
                <a:latin typeface="Calibri"/>
              </a:defRPr>
            </a:pPr>
            <a:r>
              <a:t>Class Imbalance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88.6% vs 11.4% split makes recall critical;</a:t>
            </a:r>
            <a:br/>
            <a:r>
              <a:t>SMOTE + threshold tuning address this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  <a:latin typeface="Calibri"/>
              </a:defRPr>
            </a:pPr>
            <a:r>
              <a:t>Clinical Tradeoff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977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Lower threshold = more false alarms but</a:t>
            </a:r>
            <a:br/>
            <a:r>
              <a:t>far fewer missed high-risk patients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Explainability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PDP confirms model learns clinically</a:t>
            </a:r>
            <a:br/>
            <a:r>
              <a:t>plausible, interpretable relationships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50800" cy="4114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8BDF8"/>
                </a:solidFill>
                <a:latin typeface="Calibri"/>
              </a:defRPr>
            </a:pPr>
            <a:r>
              <a:t>Questions &amp; Live Dashboard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468880"/>
            <a:ext cx="2743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Raj Panchal  |  200490453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D5E1"/>
                </a:solidFill>
                <a:latin typeface="Calibri"/>
              </a:defRPr>
            </a:pPr>
            <a:r>
              <a:t>CS 719 – Data Science Project  |  University of Regina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Supervised by Dr. Hamilton  |  April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97680"/>
            <a:ext cx="5029200" cy="201168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63500" cy="2011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434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4754880"/>
            <a:ext cx="10972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892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Real-time patient risk assessment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212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What-If analysis &amp; scenario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32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LACE vs AI model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8521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 Feature importance visualization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15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1371600"/>
            <a:ext cx="50292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6459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DASHBOARD PREVIEW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011680"/>
            <a:ext cx="109728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ell_53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286000"/>
            <a:ext cx="4663440" cy="2286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85800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Dashboard Link: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5120640"/>
            <a:ext cx="4480560" cy="457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[your-app.streamlit.app]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6692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Auto-deploys from GitHub on every push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