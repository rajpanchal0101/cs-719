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80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Predictive Analytics and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8BDF8"/>
                </a:solidFill>
                <a:latin typeface="Calibri"/>
              </a:defRPr>
            </a:pPr>
            <a:r>
              <a:t>for Hospital Readmission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BD5E1"/>
                </a:solidFill>
                <a:latin typeface="Calibri"/>
              </a:defRPr>
            </a:pPr>
            <a:r>
              <a:t>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33756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Raj Panchal  (200490453)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April 14,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Instructor:  Dr. Howard J. Hamilton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29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78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Approach: ML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59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2724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75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 Training &amp;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245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79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7316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0352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21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Patient Risk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5216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70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Conclusions &amp; Live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37160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645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Project Highlights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057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377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101,766 patient encounters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880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46 predictive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383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XGBoost — ROC-AUC 0.665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886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9x recall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Explainable AI (PFI + PDP)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892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Interactive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Why predicting readmissions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$26B+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Preventable readmissions</a:t>
            </a:r>
            <a:br/>
            <a:r>
              <a:t>cost the US healthcare</a:t>
            </a:r>
            <a:br/>
            <a:r>
              <a:t>system billions yearly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923C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Readmission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Nearly 1 in 9 diabetic</a:t>
            </a:r>
            <a:br/>
            <a:r>
              <a:t>patients are readmitted</a:t>
            </a:r>
            <a:br/>
            <a:r>
              <a:t>within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  <a:latin typeface="Calibri"/>
              </a:defRPr>
            </a:pPr>
            <a:r>
              <a:t>3,300+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Daily Readmissions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Hospitals face penalties</a:t>
            </a:r>
            <a:br/>
            <a:r>
              <a:t>under CMS Readmissions</a:t>
            </a:r>
            <a:br/>
            <a:r>
              <a:t>Reduction Program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6350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Build an explainable ML model that identifies high-risk diabetic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before discharge, enabling targeted interventions to reduce preventable 30-day readmissions.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Input: Demographics, diagnoses, medications, visits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Output: Risk probability + feature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UCI Diabetes 130-US Hospitals Dataset (1999–2008)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101,766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Patient Encounters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37160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 Hospitals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Original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92608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Calibri"/>
              </a:defRPr>
            </a:pPr>
            <a:r>
              <a:t>10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 Span</a:t>
            </a:r>
          </a:p>
        </p:txBody>
      </p:sp>
      <p:pic>
        <p:nvPicPr>
          <p:cNvPr id="21" name="Picture 20" descr="cell_1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217920" cy="3657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57200" y="5029200"/>
            <a:ext cx="11247120" cy="128016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63500" cy="12801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KEY CHALLENGE: CLASS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88.6% Not Readmitted vs 11.4% Readmitted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SMOTE on training set only (no data leakage)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Stratified 80/20 train-test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Demographics, diagnoses, medications, visit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Approach: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End-to-end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5603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15544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Raw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101,766 records</a:t>
            </a:r>
            <a:br/>
            <a:r>
              <a:t>50 features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718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5603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Remove nulls,</a:t>
            </a:r>
            <a:br/>
            <a:r>
              <a:t>invalid records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436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5603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0" y="15544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 new features,</a:t>
            </a:r>
            <a:br/>
            <a:r>
              <a:t>ICD-9 mapping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5603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95560" y="15544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Train/Test</a:t>
            </a:r>
            <a:br/>
            <a: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80/20 stratified</a:t>
            </a:r>
            <a:br/>
            <a:r>
              <a:t>+ SMOTE on train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515600" y="3474720"/>
            <a:ext cx="36576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811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4114800"/>
            <a:ext cx="2560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560" y="42976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Model Training</a:t>
            </a:r>
            <a:br/>
            <a:r>
              <a:t>&amp;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486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 classifiers +</a:t>
            </a:r>
            <a:br/>
            <a:r>
              <a:t>GridSearchCV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89154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4114800"/>
            <a:ext cx="256032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23760" y="429768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86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ROC-AUC, F1,</a:t>
            </a:r>
            <a:br/>
            <a:r>
              <a:t>confusion matrix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59436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375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37560" y="4114800"/>
            <a:ext cx="25603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51960" y="429768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Threshold</a:t>
            </a:r>
            <a:br/>
            <a:r>
              <a:t>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486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0.50 → 0.20</a:t>
            </a:r>
            <a:br/>
            <a:r>
              <a:t>(9x recall gain)</a:t>
            </a:r>
          </a:p>
        </p:txBody>
      </p:sp>
      <p:sp>
        <p:nvSpPr>
          <p:cNvPr id="50" name="Left Arrow 49"/>
          <p:cNvSpPr/>
          <p:nvPr/>
        </p:nvSpPr>
        <p:spPr>
          <a:xfrm>
            <a:off x="29718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4114800"/>
            <a:ext cx="25603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80160" y="429768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  <a:br/>
            <a:r>
              <a:t>&amp;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486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PFI, PDP +</a:t>
            </a:r>
            <a:br/>
            <a:r>
              <a:t>Streamlit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Cleaning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200400" cy="22860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20040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101,766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50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Raw, noisy, imbalanced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94760" y="2286000"/>
            <a:ext cx="457200" cy="4572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200400" cy="22860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20040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99,340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46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Clean, encoded, balanced</a:t>
            </a:r>
          </a:p>
        </p:txBody>
      </p:sp>
      <p:pic>
        <p:nvPicPr>
          <p:cNvPr id="22" name="Picture 21" descr="cell_23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88720"/>
            <a:ext cx="4114800" cy="25603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4023360"/>
            <a:ext cx="11247120" cy="22860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6350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52628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total_visits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= outpatient + emergency + inpatient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num_med_changed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= count of medications adjusted (Up/Down)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age_numeric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= midpoint of age bracket (e.g. [70-80) → 75)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ICD-9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806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= diagnosis codes → 9 clinical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Model Training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Three classifiers with GridSearchCV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5661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C=0.01, solver='lbfgs'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0.642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0.641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0.705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371600"/>
            <a:ext cx="35661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n_estimators=200, depth=20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68880"/>
            <a:ext cx="3017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0.647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0.885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F1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0.837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371600"/>
            <a:ext cx="35661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0" y="1554480"/>
            <a:ext cx="1371600" cy="36576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SELECTED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lr=0.05, depth=8, n_est=100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468880"/>
            <a:ext cx="3017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ROC-AUC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0.665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0.886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Test F1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0.841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669280"/>
            <a:ext cx="11430000" cy="73152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5669280"/>
            <a:ext cx="63500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XGBoost selected: highest test ROC-AUC (0.665) and best balance of precision and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Results: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ROC curves, confusion matrices &amp;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pic>
        <p:nvPicPr>
          <p:cNvPr id="9" name="Picture 8" descr="cell_3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4114800"/>
          </a:xfrm>
          <a:prstGeom prst="rect">
            <a:avLst/>
          </a:prstGeom>
        </p:spPr>
      </p:pic>
      <p:pic>
        <p:nvPicPr>
          <p:cNvPr id="10" name="Picture 9" descr="cell_37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6400800" cy="2377440"/>
          </a:xfrm>
          <a:prstGeom prst="rect">
            <a:avLst/>
          </a:prstGeom>
        </p:spPr>
      </p:pic>
      <p:pic>
        <p:nvPicPr>
          <p:cNvPr id="11" name="Picture 10" descr="cell_41_ou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49039"/>
            <a:ext cx="3474720" cy="2377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0" y="3749039"/>
            <a:ext cx="2743200" cy="237744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3749039"/>
            <a:ext cx="5080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All models beat</a:t>
            </a:r>
            <a:br/>
            <a:r>
              <a:t>  random baseline</a:t>
            </a:r>
            <a:br/>
            <a:br/>
            <a:r>
              <a:t>• XGBoost: best</a:t>
            </a:r>
            <a:br/>
            <a:r>
              <a:t>  ROC-AUC = 0.665</a:t>
            </a:r>
            <a:br/>
            <a:br/>
            <a:r>
              <a:t>• High CV 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Results: Threshold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Tuning for clinical utility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pic>
        <p:nvPicPr>
          <p:cNvPr id="9" name="Picture 8" descr="cell_49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280160"/>
            <a:ext cx="2560320" cy="2743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256032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7171"/>
                </a:solidFill>
                <a:latin typeface="Calibri"/>
              </a:defRPr>
            </a:pPr>
            <a:r>
              <a:t>DEFAULT (T=0.50)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828800"/>
            <a:ext cx="20116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87171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14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Misses 96% of readmissions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35440" y="2286000"/>
            <a:ext cx="365760" cy="36576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1280160"/>
            <a:ext cx="2286000" cy="2743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1280160"/>
            <a:ext cx="228600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OPTIMAL (T=0.20)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1828800"/>
            <a:ext cx="18288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011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34D399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0175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0.28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9x improvement!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297680"/>
            <a:ext cx="5394960" cy="201168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4297680"/>
            <a:ext cx="63500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 healthcare, missing a high-risk</a:t>
            </a:r>
            <a:br/>
            <a:r>
              <a:t>patient is far more costly than a</a:t>
            </a:r>
            <a:br/>
            <a:r>
              <a:t>false alarm. Lower threshold = more</a:t>
            </a:r>
            <a:br/>
            <a:r>
              <a:t>false positives but far fewer missed</a:t>
            </a:r>
            <a:br/>
            <a:r>
              <a:t>high-risk patients.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Explainability: PFI &amp; PDP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What drives readmission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pic>
        <p:nvPicPr>
          <p:cNvPr id="9" name="Picture 8" descr="cell_45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840480"/>
          </a:xfrm>
          <a:prstGeom prst="rect">
            <a:avLst/>
          </a:prstGeom>
        </p:spPr>
      </p:pic>
      <p:pic>
        <p:nvPicPr>
          <p:cNvPr id="10" name="Picture 9" descr="cell_47_ou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3474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74320" y="5212080"/>
            <a:ext cx="5669280" cy="109728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212080"/>
            <a:ext cx="50800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PERMUTATION FEATURE 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#1: Prior inpatient visits (5.7% ROC-AUC drop)</a:t>
            </a:r>
            <a:br/>
            <a:r>
              <a:t>#2: Discharge disposition (4.5% drop)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846320"/>
            <a:ext cx="5486400" cy="146304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846320"/>
            <a:ext cx="50800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PARTIAL DEPENDENCE PLOTS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03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Risk rises sharply with 0→3 prior</a:t>
            </a:r>
            <a:br/>
            <a:r>
              <a:t>inpatient visits. Model learns clinically</a:t>
            </a:r>
            <a:br/>
            <a:r>
              <a:t>plausible, interpretable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Example: Patient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Low, Medium &amp; High risk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3749039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749039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D399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3017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Age 35  |  0 inpatient visits</a:t>
            </a:r>
            <a:br/>
            <a:r>
              <a:t>8 meds  |  2 days  |  3 diagnoses</a:t>
            </a:r>
          </a:p>
        </p:txBody>
      </p:sp>
      <p:pic>
        <p:nvPicPr>
          <p:cNvPr id="17" name="Picture 16" descr="cell_59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31920"/>
            <a:ext cx="3657600" cy="21031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51959" y="1280160"/>
            <a:ext cx="3749039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280160"/>
            <a:ext cx="3749039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4919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MEDIUM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923C"/>
                </a:solidFill>
                <a:latin typeface="Calibri"/>
              </a:defRPr>
            </a:pPr>
            <a:r>
              <a:t>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19" y="2926080"/>
            <a:ext cx="3017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Age 65  |  2 inpatient visits</a:t>
            </a:r>
            <a:br/>
            <a:r>
              <a:t>15 meds  |  5 days  |  7 diagnoses</a:t>
            </a:r>
          </a:p>
        </p:txBody>
      </p:sp>
      <p:pic>
        <p:nvPicPr>
          <p:cNvPr id="26" name="Picture 25" descr="cell_57_ou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3931920"/>
            <a:ext cx="3657600" cy="21031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29599" y="1280160"/>
            <a:ext cx="3749039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9" y="1280160"/>
            <a:ext cx="3749039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52559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7171"/>
                </a:solidFill>
                <a:latin typeface="Calibri"/>
              </a:defRPr>
            </a:pPr>
            <a:r>
              <a:t>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59" y="2926080"/>
            <a:ext cx="301752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Age 75  |  5 inpatient visits</a:t>
            </a:r>
            <a:br/>
            <a:r>
              <a:t>22 meds  |  8 days  |  9 diagnoses</a:t>
            </a:r>
          </a:p>
        </p:txBody>
      </p:sp>
      <p:pic>
        <p:nvPicPr>
          <p:cNvPr id="35" name="Picture 34" descr="cell_61_ou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3931920"/>
            <a:ext cx="36576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Summary of achievements and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63500" cy="502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WHAT WAS ACHIEVED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End-to-end ML pipeline for 30-day</a:t>
            </a:r>
            <a:br/>
            <a:r>
              <a:t>readmission prediction (101K+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786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Trained &amp; compared 3 models;</a:t>
            </a:r>
            <a:br/>
            <a:r>
              <a:t>XGBoost selected (ROC-AUC 0.665)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45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4553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Threshold optimization: 9x recall</a:t>
            </a:r>
            <a:br/>
            <a:r>
              <a:t>improvement (4% → 35%)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124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124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Explainable AI with Permutation</a:t>
            </a:r>
            <a:br/>
            <a:r>
              <a:t>Feature Importance &amp; PDP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793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Interactive Streamlit dashboard with</a:t>
            </a:r>
            <a:br/>
            <a:r>
              <a:t>real-time risk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486400" cy="50292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63500" cy="502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2880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Prior Inpatient Visits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Strongest predictor of readmission</a:t>
            </a:r>
            <a:br/>
            <a:r>
              <a:t>(5.7% ROC-AUC drop when shuffled)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Discharge Disposition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999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Second most important feature;</a:t>
            </a:r>
            <a:br/>
            <a:r>
              <a:t>certain types carry higher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438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124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88.6% vs 11.4% — SMOTE +</a:t>
            </a:r>
            <a:br/>
            <a:r>
              <a:t>threshold tuning address 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513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Clinical Tradeoff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25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Lower threshold = more false alarms</a:t>
            </a:r>
            <a:br/>
            <a:r>
              <a:t>but far fewer missed patients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0800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8BDF8"/>
                </a:solidFill>
                <a:latin typeface="Calibri"/>
              </a:defRPr>
            </a:pPr>
            <a:r>
              <a:t>Questions &amp; Live Dashboard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28600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Predictive Analytics and Explainable AI for Hospital Readmission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Raj Panchal  (200490453)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April 14,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Instructor:  Dr. Howard J. Hamilton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5029200" cy="16459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63500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120640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Real-time patient risk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What-If analysis &amp; scenario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97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LACE vs AI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097280"/>
            <a:ext cx="5120640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097280"/>
            <a:ext cx="5120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DASHBOARD PREVIEW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69164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ell_53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20240"/>
            <a:ext cx="4754880" cy="2560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Dashboard Link: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02920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5029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[your-app.streamlit.app]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Auto-deploys from GitHub on every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