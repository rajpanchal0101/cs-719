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731520"/>
            <a:ext cx="3200400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Predictive Analytics and Explainable AI</a:t>
            </a:r>
            <a:br/>
            <a:r>
              <a:t>for Hospital Readmission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D4A01E"/>
                </a:solidFill>
                <a:latin typeface="Calibri"/>
              </a:defRPr>
            </a:pPr>
            <a:r>
              <a:t>Midterm Project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383280"/>
            <a:ext cx="2286000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ECF0F1"/>
                </a:solidFill>
                <a:latin typeface="Calibri"/>
              </a:defRPr>
            </a:pPr>
            <a:r>
              <a:t>CS 719 — Data Science Project (Winter 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Prepared By:  Raj Panchal (200490453)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Date:  March 3,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212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7F8C8D"/>
                </a:solidFill>
                <a:latin typeface="Calibri"/>
              </a:defRPr>
            </a:pPr>
            <a:r>
              <a:t>Under Esteemed Guidance of Instructor: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577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Howard J. Hamilton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University of Regina  |  Faculty of Science  |  Department of Computer Science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565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CF0F1"/>
                </a:solidFill>
                <a:latin typeface="Calibri"/>
              </a:defRPr>
            </a:pPr>
            <a: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Goal, Motivation &amp;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2286000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— Data Science Project  |  Midterm Project Review  |  Raj Panchal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65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CF0F1"/>
                </a:solidFill>
                <a:latin typeface="Calibri"/>
              </a:defRPr>
            </a:pPr>
            <a:r>
              <a:t>2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" y="1170432"/>
            <a:ext cx="11247120" cy="1234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11247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188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A01E"/>
                </a:solidFill>
                <a:latin typeface="Calibri"/>
              </a:defRPr>
            </a:pPr>
            <a: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508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C3E50"/>
                </a:solidFill>
                <a:latin typeface="Calibri"/>
              </a:defRPr>
            </a:pPr>
            <a:r>
              <a:t>Build a machine learning system that predicts whether a diabetic patient will be readmitted to the hospital within 30 days of discharge, and explain which clinical factors drive the prediction — enabling hospitals to intervene early and reduce costly readmissions.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A01E"/>
                </a:solidFill>
                <a:latin typeface="Calibri"/>
              </a:defRPr>
            </a:pPr>
            <a:r>
              <a:t>WHY IT MATTERS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" y="2953512"/>
            <a:ext cx="3520440" cy="15087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926080"/>
            <a:ext cx="35204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01752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E86C1"/>
                </a:solidFill>
                <a:latin typeface="Calibri"/>
              </a:defRPr>
            </a:pPr>
            <a:r>
              <a:t>$26 B+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2044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Annual cost of</a:t>
            </a:r>
            <a:br/>
            <a:r>
              <a:t>unplanned readmissions</a:t>
            </a:r>
            <a:br/>
            <a:r>
              <a:t>in the U.S.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9392" y="2953512"/>
            <a:ext cx="3520440" cy="15087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2926080"/>
            <a:ext cx="35204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301752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67E22"/>
                </a:solidFill>
                <a:latin typeface="Calibri"/>
              </a:defRPr>
            </a:pPr>
            <a:r>
              <a:t>11.4%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52044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Diabetic patients in</a:t>
            </a:r>
            <a:br/>
            <a:r>
              <a:t>our dataset readmitted</a:t>
            </a:r>
            <a:br/>
            <a:r>
              <a:t>within 30 days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74152" y="2953512"/>
            <a:ext cx="3520440" cy="15087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2926080"/>
            <a:ext cx="35204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301752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7AE60"/>
                </a:solidFill>
                <a:latin typeface="Calibri"/>
              </a:defRPr>
            </a:pPr>
            <a:r>
              <a:t>Preventable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52044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Early risk identification</a:t>
            </a:r>
            <a:br/>
            <a:r>
              <a:t>can trigger targeted</a:t>
            </a:r>
            <a:br/>
            <a:r>
              <a:t>interventions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09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A01E"/>
                </a:solidFill>
                <a:latin typeface="Calibri"/>
              </a:defRPr>
            </a:pPr>
            <a:r>
              <a:t>METHOD — 6-Step Pipeline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" y="5056632"/>
            <a:ext cx="11247120" cy="1234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" y="5166360"/>
            <a:ext cx="411480" cy="411480"/>
          </a:xfrm>
          <a:prstGeom prst="ellipse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148072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Data</a:t>
            </a:r>
            <a:br/>
            <a:r>
              <a:t>Cleaning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2286000" y="5257800"/>
            <a:ext cx="228600" cy="228600"/>
          </a:xfrm>
          <a:prstGeom prst="right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60320" y="5166360"/>
            <a:ext cx="411480" cy="411480"/>
          </a:xfrm>
          <a:prstGeom prst="ellipse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5148072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Feature</a:t>
            </a:r>
            <a:br/>
            <a:r>
              <a:t>Engineering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4114800" y="5257800"/>
            <a:ext cx="228600" cy="228600"/>
          </a:xfrm>
          <a:prstGeom prst="right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389120" y="5166360"/>
            <a:ext cx="411480" cy="411480"/>
          </a:xfrm>
          <a:prstGeom prst="ellipse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5148072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Train 3</a:t>
            </a:r>
            <a:br/>
            <a:r>
              <a:t>Models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5943600" y="5257800"/>
            <a:ext cx="228600" cy="228600"/>
          </a:xfrm>
          <a:prstGeom prst="right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17920" y="5166360"/>
            <a:ext cx="411480" cy="411480"/>
          </a:xfrm>
          <a:prstGeom prst="ellipse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148072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Compare &amp;</a:t>
            </a:r>
            <a:br/>
            <a:r>
              <a:t>Select Best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7772400" y="5257800"/>
            <a:ext cx="228600" cy="228600"/>
          </a:xfrm>
          <a:prstGeom prst="right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046720" y="5166360"/>
            <a:ext cx="411480" cy="411480"/>
          </a:xfrm>
          <a:prstGeom prst="ellipse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5148072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Explain</a:t>
            </a:r>
            <a:br/>
            <a:r>
              <a:t>(PFI + PDP)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9601200" y="5257800"/>
            <a:ext cx="228600" cy="228600"/>
          </a:xfrm>
          <a:prstGeom prst="right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875520" y="5166360"/>
            <a:ext cx="411480" cy="411480"/>
          </a:xfrm>
          <a:prstGeom prst="ellipse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78440" y="5148072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Interactive</a:t>
            </a:r>
            <a:br/>
            <a:r>
              <a:t>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Pictorial Overview — Project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2286000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— Data Science Project  |  Midterm Project Review  |  Raj Panchal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65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CF0F1"/>
                </a:solidFill>
                <a:latin typeface="Calibri"/>
              </a:defRPr>
            </a:pPr>
            <a:r>
              <a:t>3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260604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E86C1"/>
                </a:solidFill>
                <a:latin typeface="Calibri"/>
              </a:defRPr>
            </a:pPr>
            <a:r>
              <a:t>Raw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8308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101,766 records</a:t>
            </a:r>
            <a:br/>
            <a:r>
              <a:t>50 features</a:t>
            </a:r>
            <a:br/>
            <a:r>
              <a:t>130 US hospitals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17520" y="1828800"/>
            <a:ext cx="320040" cy="274320"/>
          </a:xfrm>
          <a:prstGeom prst="right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23444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234440"/>
            <a:ext cx="2606040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3716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A69A"/>
                </a:solidFill>
                <a:latin typeface="Calibri"/>
              </a:defRPr>
            </a:pPr>
            <a:r>
              <a:t>Data Cleaning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78308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Drop high-null cols</a:t>
            </a:r>
            <a:br/>
            <a:r>
              <a:t>Remove expired rows</a:t>
            </a:r>
            <a:br/>
            <a:r>
              <a:t>99,340 × 42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89320" y="1828800"/>
            <a:ext cx="320040" cy="274320"/>
          </a:xfrm>
          <a:prstGeom prst="right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23444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234440"/>
            <a:ext cx="2606040" cy="5486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3716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2A5F5"/>
                </a:solidFill>
                <a:latin typeface="Calibri"/>
              </a:defRPr>
            </a:pPr>
            <a:r>
              <a:t>Feature</a:t>
            </a:r>
            <a:br/>
            <a:r>
              <a:t>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78308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4 new features</a:t>
            </a:r>
            <a:br/>
            <a:r>
              <a:t>Binary target</a:t>
            </a:r>
            <a:br/>
            <a:r>
              <a:t>99,340 × 23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961120" y="1828800"/>
            <a:ext cx="320040" cy="274320"/>
          </a:xfrm>
          <a:prstGeom prst="right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81160" y="123444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81160" y="1234440"/>
            <a:ext cx="260604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13716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8E44AD"/>
                </a:solidFill>
                <a:latin typeface="Calibri"/>
              </a:defRPr>
            </a:pPr>
            <a:r>
              <a:t>Exploratory</a:t>
            </a:r>
            <a:br/>
            <a:r>
              <a:t>Data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178308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Distributions</a:t>
            </a:r>
            <a:br/>
            <a:r>
              <a:t>Correlations</a:t>
            </a:r>
            <a:br/>
            <a:r>
              <a:t>Statistical tests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989320" y="2834640"/>
            <a:ext cx="228600" cy="274320"/>
          </a:xfrm>
          <a:prstGeom prst="down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29184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3291840"/>
            <a:ext cx="2606040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4290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B300"/>
                </a:solidFill>
                <a:latin typeface="Calibri"/>
              </a:defRPr>
            </a:pPr>
            <a:r>
              <a:t>Preprocessing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84048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One-Hot Encode</a:t>
            </a:r>
            <a:br/>
            <a:r>
              <a:t>80/20 split</a:t>
            </a:r>
            <a:br/>
            <a:r>
              <a:t>SMOTE + Scale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017520" y="3886200"/>
            <a:ext cx="320040" cy="274320"/>
          </a:xfrm>
          <a:prstGeom prst="right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37560" y="329184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337560" y="3291840"/>
            <a:ext cx="260604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0" y="34290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67E22"/>
                </a:solidFill>
                <a:latin typeface="Calibri"/>
              </a:defRPr>
            </a:pPr>
            <a:r>
              <a:t>Model Training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84048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Logistic Regression</a:t>
            </a:r>
            <a:br/>
            <a:r>
              <a:t>Random Forest</a:t>
            </a:r>
            <a:br/>
            <a:r>
              <a:t>XGBoost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5989320" y="3886200"/>
            <a:ext cx="320040" cy="274320"/>
          </a:xfrm>
          <a:prstGeom prst="right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329184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09360" y="3291840"/>
            <a:ext cx="260604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34290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74C3C"/>
                </a:solidFill>
                <a:latin typeface="Calibri"/>
              </a:defRPr>
            </a:pPr>
            <a:r>
              <a:t>Evaluation &amp;</a:t>
            </a:r>
            <a:br/>
            <a:r>
              <a:t>Selection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384048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ROC-AUC, F1, CV</a:t>
            </a:r>
            <a:br/>
            <a:r>
              <a:t>Confusion matrices</a:t>
            </a:r>
            <a:br/>
            <a:r>
              <a:t>Best: XGBoost</a:t>
            </a:r>
          </a:p>
        </p:txBody>
      </p:sp>
      <p:sp>
        <p:nvSpPr>
          <p:cNvPr id="42" name="Down Arrow 41"/>
          <p:cNvSpPr/>
          <p:nvPr/>
        </p:nvSpPr>
        <p:spPr>
          <a:xfrm>
            <a:off x="5989320" y="4892040"/>
            <a:ext cx="228600" cy="274320"/>
          </a:xfrm>
          <a:prstGeom prst="down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530352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5760" y="5303520"/>
            <a:ext cx="260604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53949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7AE60"/>
                </a:solidFill>
                <a:latin typeface="Calibri"/>
              </a:defRPr>
            </a:pPr>
            <a:r>
              <a:t>Explainability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57150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PFI + PDP</a:t>
            </a:r>
            <a:br/>
            <a:r>
              <a:t>on best model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017520" y="5623560"/>
            <a:ext cx="320040" cy="274320"/>
          </a:xfrm>
          <a:prstGeom prst="right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337560" y="530352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37560" y="5303520"/>
            <a:ext cx="2606040" cy="54864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74720" y="53949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97A7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74720" y="57150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Streamlit app</a:t>
            </a:r>
            <a:br/>
            <a:r>
              <a:t>what-if analysis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5989320" y="5623560"/>
            <a:ext cx="320040" cy="274320"/>
          </a:xfrm>
          <a:prstGeom prst="right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09360" y="530352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09360" y="5303520"/>
            <a:ext cx="2606040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46520" y="53949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B2A4A"/>
                </a:solidFill>
                <a:latin typeface="Calibri"/>
              </a:defRPr>
            </a:pPr>
            <a:r>
              <a:t>Final Report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46520" y="57150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Complete</a:t>
            </a:r>
            <a:br/>
            <a:r>
              <a:t>write-up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54312" y="3319272"/>
            <a:ext cx="2651760" cy="2971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326880" y="3291840"/>
            <a:ext cx="26517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09760" y="3383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09760" y="3749039"/>
            <a:ext cx="22860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0976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7AE60"/>
                </a:solidFill>
                <a:latin typeface="Calibri"/>
              </a:defRPr>
            </a:pPr>
            <a:r>
              <a:t>Rows 1 &amp; 2: DONE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09760" y="4206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Data pipeline fully</a:t>
            </a:r>
            <a:br/>
            <a:r>
              <a:t>complete. Models</a:t>
            </a:r>
            <a:br/>
            <a:r>
              <a:t>trained &amp; evaluated.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09760" y="4892040"/>
            <a:ext cx="228600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509760" y="4983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67E22"/>
                </a:solidFill>
                <a:latin typeface="Calibri"/>
              </a:defRPr>
            </a:pPr>
            <a:r>
              <a:t>Row 3: UPCOMING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09760" y="5349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Explainability, dashboard</a:t>
            </a:r>
            <a:br/>
            <a:r>
              <a:t>&amp; final report in</a:t>
            </a:r>
            <a:br/>
            <a:r>
              <a:t>Weeks 6–12.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Original Project Schedule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2286000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— Data Science Project  |  Midterm Project Review  |  Raj Panchal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65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CF0F1"/>
                </a:solidFill>
                <a:latin typeface="Calibri"/>
              </a:defRPr>
            </a:pPr>
            <a:r>
              <a:t>4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1143000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1430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14300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114300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499616"/>
            <a:ext cx="11430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54533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154533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Jan 27 – Feb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545336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Dataset exploration &amp; literature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154533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7AE60"/>
                </a:solidFill>
                <a:latin typeface="Calibri"/>
              </a:defRPr>
            </a:pPr>
            <a:r>
              <a:t>✓ Done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901952"/>
            <a:ext cx="11430000" cy="40233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194767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Week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194767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Feb 3 – Feb 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1947672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Data cleaning, missing values, encoding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19476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7AE60"/>
                </a:solidFill>
                <a:latin typeface="Calibri"/>
              </a:defRPr>
            </a:pPr>
            <a:r>
              <a:t>✓ Done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304288"/>
            <a:ext cx="11430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35000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Week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235000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Feb 10 – Feb 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235000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Feature engineering &amp; binary target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235000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7AE60"/>
                </a:solidFill>
                <a:latin typeface="Calibri"/>
              </a:defRPr>
            </a:pPr>
            <a:r>
              <a:t>✓ Done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706624"/>
            <a:ext cx="11430000" cy="40233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75234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275234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Feb 17 – Feb 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2752344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Model training: LR, RF, XGBoost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275234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7AE60"/>
                </a:solidFill>
                <a:latin typeface="Calibri"/>
              </a:defRPr>
            </a:pPr>
            <a:r>
              <a:t>✓ Done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108960"/>
            <a:ext cx="11430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15468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Week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31546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Feb 24 – Mar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315468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Evaluation, model selection, midterm prep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315468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7AE60"/>
                </a:solidFill>
                <a:latin typeface="Calibri"/>
              </a:defRPr>
            </a:pPr>
            <a:r>
              <a:t>✓ Done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511296"/>
            <a:ext cx="11430000" cy="40233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37360" y="355701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67E22"/>
                </a:solidFill>
                <a:latin typeface="Calibri"/>
              </a:defRPr>
            </a:pPr>
            <a:r>
              <a:t>Mar 3,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3557016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67E22"/>
                </a:solidFill>
                <a:latin typeface="Calibri"/>
              </a:defRPr>
            </a:pPr>
            <a:r>
              <a:t>MILESTONE: Mid-Term Project Review (TODAY)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355701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67E22"/>
                </a:solidFill>
                <a:latin typeface="Calibri"/>
              </a:defRPr>
            </a:pPr>
            <a:r>
              <a:t>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913632"/>
            <a:ext cx="11430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39593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Week 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37360" y="395935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Mar 4 – Mar 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3959352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Hyperparameter tuning &amp; cross-validation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39593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Upcoming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315968"/>
            <a:ext cx="11430000" cy="40233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436168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Week 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37360" y="43616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Mar 11 – Mar 17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0" y="436168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Explainability: PFI &amp; PDP on final model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5520" y="436168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Upcoming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4718304"/>
            <a:ext cx="11430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476402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Week 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737360" y="476402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Mar 18 – Mar 24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0" y="4764024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Visualization of predictions &amp; results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75520" y="476402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Upcoming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5120640"/>
            <a:ext cx="11430000" cy="40233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516636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Week 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737360" y="51663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Mar 25 – Mar 31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0" y="516636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Draft report: Intro, Background, Results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75520" y="516636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Upcoming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5522976"/>
            <a:ext cx="11430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" y="556869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Wk 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737360" y="556869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Apr 1 – Apr 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0" y="5568696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Discussion, Conclusion; figures &amp; tables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75520" y="556869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Upcoming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5925312"/>
            <a:ext cx="11430000" cy="40233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" y="597103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Wk 11-12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737360" y="597103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Apr 8 – Apr 23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57600" y="5971032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Review, proofreading &amp; final formatting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75520" y="597103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Upcoming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5760" y="6327648"/>
            <a:ext cx="11430000" cy="40233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737360" y="637336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67E22"/>
                </a:solidFill>
                <a:latin typeface="Calibri"/>
              </a:defRPr>
            </a:pPr>
            <a:r>
              <a:t>Apr 24, 2026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57600" y="637336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67E22"/>
                </a:solidFill>
                <a:latin typeface="Calibri"/>
              </a:defRPr>
            </a:pPr>
            <a:r>
              <a:t>MILESTONE: Final Project Report Due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75520" y="637336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67E22"/>
                </a:solidFill>
                <a:latin typeface="Calibri"/>
              </a:defRPr>
            </a:pPr>
            <a:r>
              <a:t>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Achievement 1 — Data Preparation &amp; Feature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2286000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— Data Science Project  |  Midterm Project Review  |  Raj Panchal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65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CF0F1"/>
                </a:solidFill>
                <a:latin typeface="Calibri"/>
              </a:defRPr>
            </a:pPr>
            <a:r>
              <a:t>5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2000" b="1">
                <a:solidFill>
                  <a:srgbClr val="2C3E50"/>
                </a:solidFill>
                <a:latin typeface="Calibri"/>
              </a:defRPr>
            </a:pPr>
            <a:r>
              <a:t>What Was Done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•  Cleaned 101,766 records from 130 US hospitals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•  Dropped 4 high-null + 2 zero-variance columns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•  Removed 2,426 expired/hospice rows → 99,340 × 42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•  Engineered 4 new features: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2E86C1"/>
                </a:solidFill>
                <a:latin typeface="Calibri"/>
              </a:defRPr>
            </a:pPr>
            <a:r>
              <a:t>   total_visits, num_med_changed,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700" b="1">
                <a:solidFill>
                  <a:srgbClr val="2E86C1"/>
                </a:solidFill>
                <a:latin typeface="Calibri"/>
              </a:defRPr>
            </a:pPr>
            <a:r>
              <a:t>   num_med_active, age_numeric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•  Binary target: &lt;30d = 1 (11.4%), else = 0 (88.6%)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•  Dropped 21 medication cols → final: 99,340 × 23</a:t>
            </a:r>
          </a:p>
        </p:txBody>
      </p:sp>
      <p:pic>
        <p:nvPicPr>
          <p:cNvPr id="9" name="Picture 8" descr="chart_13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51560"/>
            <a:ext cx="5669280" cy="2776790"/>
          </a:xfrm>
          <a:prstGeom prst="rect">
            <a:avLst/>
          </a:prstGeom>
        </p:spPr>
      </p:pic>
      <p:pic>
        <p:nvPicPr>
          <p:cNvPr id="10" name="Picture 9" descr="chart_19_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31920"/>
            <a:ext cx="5029200" cy="310476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696712" y="4142232"/>
            <a:ext cx="5943600" cy="21031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0" y="4114800"/>
            <a:ext cx="5943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4206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D4A01E"/>
                </a:solidFill>
                <a:latin typeface="Calibri"/>
              </a:defRPr>
            </a:pPr>
            <a:r>
              <a:t>DATA TRANSFORMATION 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57200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700" b="1">
                <a:solidFill>
                  <a:srgbClr val="E74C3C"/>
                </a:solidFill>
                <a:latin typeface="Calibri"/>
              </a:defRPr>
            </a:pPr>
            <a:r>
              <a:t>Before:  101,766 rows × 50 columns (202 MB)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700" b="1">
                <a:solidFill>
                  <a:srgbClr val="27AE60"/>
                </a:solidFill>
                <a:latin typeface="Calibri"/>
              </a:defRPr>
            </a:pPr>
            <a:r>
              <a:t>After:    99,340 rows × 23 columns (clean)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Positive class rate: 11.39% (11,314 readmissions)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7F8C8D"/>
                </a:solidFill>
                <a:latin typeface="Calibri"/>
              </a:defRPr>
            </a:pPr>
            <a:r>
              <a:t>Negative class rate: 88.61% (88,026 not readmitted)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Achievement 1 — Exploratory Analysis &amp; Statistical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2286000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— Data Science Project  |  Midterm Project Review  |  Raj Panchal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65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CF0F1"/>
                </a:solidFill>
                <a:latin typeface="Calibri"/>
              </a:defRPr>
            </a:pPr>
            <a:r>
              <a:t>6 / 14</a:t>
            </a:r>
          </a:p>
        </p:txBody>
      </p:sp>
      <p:pic>
        <p:nvPicPr>
          <p:cNvPr id="8" name="Picture 7" descr="chart_24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7315200" cy="2235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99832" y="1078992"/>
            <a:ext cx="4114800" cy="2743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1051560"/>
            <a:ext cx="41148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14300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D4A01E"/>
                </a:solidFill>
                <a:latin typeface="Calibri"/>
              </a:defRPr>
            </a:pPr>
            <a:r>
              <a:t>KEY 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508760"/>
            <a:ext cx="37490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2C3E50"/>
                </a:solidFill>
                <a:latin typeface="Calibri"/>
              </a:defRPr>
            </a:pPr>
            <a:r>
              <a:t>Prior inpatient visits is the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2C3E50"/>
                </a:solidFill>
                <a:latin typeface="Calibri"/>
              </a:defRPr>
            </a:pPr>
            <a:r>
              <a:t>strongest predictor of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800" b="1">
                <a:solidFill>
                  <a:srgbClr val="2C3E50"/>
                </a:solidFill>
                <a:latin typeface="Calibri"/>
              </a:defRPr>
            </a:pPr>
            <a:r>
              <a:t>30-day readmission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27AE60"/>
                </a:solidFill>
                <a:latin typeface="Calibri"/>
              </a:defRPr>
            </a:pPr>
            <a:r>
              <a:t>0 visits → 9% readmission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E67E22"/>
                </a:solidFill>
                <a:latin typeface="Calibri"/>
              </a:defRPr>
            </a:pPr>
            <a:r>
              <a:t>4 visits → 25% readmission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700" b="1">
                <a:solidFill>
                  <a:srgbClr val="E74C3C"/>
                </a:solidFill>
                <a:latin typeface="Calibri"/>
              </a:defRPr>
            </a:pPr>
            <a:r>
              <a:t>8 visits → 47% readmission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Near-linear monotonic increase</a:t>
            </a:r>
          </a:p>
        </p:txBody>
      </p:sp>
      <p:pic>
        <p:nvPicPr>
          <p:cNvPr id="13" name="Picture 12" descr="chart_21_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3840480"/>
            <a:ext cx="4572000" cy="404209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056632" y="3959352"/>
            <a:ext cx="6675120" cy="2286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3931920"/>
            <a:ext cx="6675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D4A01E"/>
                </a:solidFill>
                <a:latin typeface="Calibri"/>
              </a:defRPr>
            </a:pPr>
            <a:r>
              <a:t>STATISTICAL TEST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4389120"/>
            <a:ext cx="6309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Shapiro-Wilk: All features non-normal (p ≈ 0.00)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   → Justifies tree-based models over parametric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27AE60"/>
                </a:solidFill>
                <a:latin typeface="Calibri"/>
              </a:defRPr>
            </a:pPr>
            <a:r>
              <a:t>Chi² (diag_1 vs readmitted): p ≈ 0.00 — SIGNIFICANT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   Diagnosis category predicts readmission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E74C3C"/>
                </a:solidFill>
                <a:latin typeface="Calibri"/>
              </a:defRPr>
            </a:pPr>
            <a:r>
              <a:t>Chi² (gender vs readmitted): p = 0.43 — NOT significant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   Gender does NOT predict readmission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Pearson: num_meds vs lab_procs r = 0.27 (weak)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Achievement 2 — Model Training, Evaluation &amp;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2286000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— Data Science Project  |  Midterm Project Review  |  Raj Panchal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65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CF0F1"/>
                </a:solidFill>
                <a:latin typeface="Calibri"/>
              </a:defRPr>
            </a:pPr>
            <a:r>
              <a:t>7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1124712"/>
            <a:ext cx="3566160" cy="2377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3566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097280"/>
            <a:ext cx="35661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E86C1"/>
                </a:solidFill>
                <a:latin typeface="Calibri"/>
              </a:defRPr>
            </a:pPr>
            <a:r>
              <a:t>Logistic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Linear Baseline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1874519"/>
            <a:ext cx="2468880" cy="25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116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max_iter=1000</a:t>
            </a:r>
            <a:br/>
            <a:r>
              <a:t>solver=lbfgs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0116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Acc: 64.0%</a:t>
            </a:r>
            <a:br/>
            <a:r>
              <a:t>ROC-AUC: 0.642</a:t>
            </a:r>
            <a:br/>
            <a:r>
              <a:t>Recall: 55%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33672" y="1124712"/>
            <a:ext cx="3566160" cy="2377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06240" y="1097280"/>
            <a:ext cx="3566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6240" y="1097280"/>
            <a:ext cx="356616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8E44AD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Ensemble (Bagging)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1874519"/>
            <a:ext cx="2468880" cy="254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20116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200 trees</a:t>
            </a:r>
            <a:br/>
            <a:r>
              <a:t>max_depth=15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20116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Acc: 88.0%</a:t>
            </a:r>
            <a:br/>
            <a:r>
              <a:t>ROC-AUC: 0.653</a:t>
            </a:r>
            <a:br/>
            <a:r>
              <a:t>Recall: 6%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74152" y="1124712"/>
            <a:ext cx="3566160" cy="2377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1097280"/>
            <a:ext cx="3566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1097280"/>
            <a:ext cx="356616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7AE60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Ensemble (Boosting)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95360" y="1874519"/>
            <a:ext cx="2468880" cy="25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20116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200 estimators</a:t>
            </a:r>
            <a:br/>
            <a:r>
              <a:t>max_depth=6, lr=0.1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20116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Acc: 88.6%</a:t>
            </a:r>
            <a:br/>
            <a:r>
              <a:t>ROC-AUC: 0.671</a:t>
            </a:r>
            <a:br/>
            <a:r>
              <a:t>Recall: 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03920" y="1051560"/>
            <a:ext cx="310896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10515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⭐ SELECTED — Best ROC-AUC</a:t>
            </a:r>
          </a:p>
        </p:txBody>
      </p:sp>
      <p:pic>
        <p:nvPicPr>
          <p:cNvPr id="34" name="Picture 33" descr="chart_36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566160"/>
            <a:ext cx="7498079" cy="2228100"/>
          </a:xfrm>
          <a:prstGeom prst="rect">
            <a:avLst/>
          </a:prstGeom>
        </p:spPr>
      </p:pic>
      <p:pic>
        <p:nvPicPr>
          <p:cNvPr id="35" name="Picture 34" descr="chart_39_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3566160"/>
            <a:ext cx="4480560" cy="2210006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393192" y="5788152"/>
            <a:ext cx="11430000" cy="6400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5760720"/>
            <a:ext cx="11430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806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Selection: XGBoost — highest Test ROC-AUC (0.671), highest Avg Precision (0.228), best cross-validation stability (σ = 0.0015). All models validated with 5-fold stratified CV.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Achievement 3 — Deeper Insights from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2286000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— Data Science Project  |  Midterm Project Review  |  Raj Panchal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65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CF0F1"/>
                </a:solidFill>
                <a:latin typeface="Calibri"/>
              </a:defRPr>
            </a:pPr>
            <a:r>
              <a:t>8 / 14</a:t>
            </a:r>
          </a:p>
        </p:txBody>
      </p:sp>
      <p:pic>
        <p:nvPicPr>
          <p:cNvPr id="8" name="Picture 7" descr="chart_37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4114800" cy="3187455"/>
          </a:xfrm>
          <a:prstGeom prst="rect">
            <a:avLst/>
          </a:prstGeom>
        </p:spPr>
      </p:pic>
      <p:pic>
        <p:nvPicPr>
          <p:cNvPr id="9" name="Picture 8" descr="chart_38_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05840"/>
            <a:ext cx="4114800" cy="3187455"/>
          </a:xfrm>
          <a:prstGeom prst="rect">
            <a:avLst/>
          </a:prstGeom>
        </p:spPr>
      </p:pic>
      <p:pic>
        <p:nvPicPr>
          <p:cNvPr id="10" name="Picture 9" descr="chart_40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005840"/>
            <a:ext cx="3657600" cy="217077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93192" y="4142232"/>
            <a:ext cx="3657600" cy="21945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411480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206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E86C1"/>
                </a:solidFill>
                <a:latin typeface="Calibri"/>
              </a:defRPr>
            </a:pPr>
            <a:r>
              <a:t>ROC Curves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7200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2E86C1"/>
                </a:solidFill>
                <a:latin typeface="Calibri"/>
              </a:defRPr>
            </a:pPr>
            <a:r>
              <a:t>XGBoost: 0.671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RF: 0.653  |  LR: 0.642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All models above random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baseline (0.5). XGBoost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consistently leads.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4142232"/>
            <a:ext cx="3657600" cy="21945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411480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4206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7AE60"/>
                </a:solidFill>
                <a:latin typeface="Calibri"/>
              </a:defRPr>
            </a:pPr>
            <a:r>
              <a:t>Precision-Recall Curves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57200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27AE60"/>
                </a:solidFill>
                <a:latin typeface="Calibri"/>
              </a:defRPr>
            </a:pPr>
            <a:r>
              <a:t>XGBoost AP: 0.228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LR: 0.202  |  RF: 0.199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All above baseline prevalence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(0.114). Steep drop-off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confirms hard task.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57032" y="4142232"/>
            <a:ext cx="3566160" cy="21945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411480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4206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E44AD"/>
                </a:solidFill>
                <a:latin typeface="Calibri"/>
              </a:defRPr>
            </a:pPr>
            <a:r>
              <a:t>Cross-Validation Stability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5720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8E44AD"/>
                </a:solidFill>
                <a:latin typeface="Calibri"/>
              </a:defRPr>
            </a:pPr>
            <a:r>
              <a:t>RF: 0.960  |  XGB: 0.958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LR: 0.654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RF and XGBoost both highly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stable (σ = 0.0015). Tree-based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models vastly outperform LR.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Achievement 3 — Explainability: PFI &amp; PDP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2286000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— Data Science Project  |  Midterm Project Review  |  Raj Panchal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65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CF0F1"/>
                </a:solidFill>
                <a:latin typeface="Calibri"/>
              </a:defRPr>
            </a:pPr>
            <a:r>
              <a:t>9 / 14</a:t>
            </a:r>
          </a:p>
        </p:txBody>
      </p:sp>
      <p:pic>
        <p:nvPicPr>
          <p:cNvPr id="8" name="Picture 7" descr="chart_44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5943600" cy="4735551"/>
          </a:xfrm>
          <a:prstGeom prst="rect">
            <a:avLst/>
          </a:prstGeom>
        </p:spPr>
      </p:pic>
      <p:pic>
        <p:nvPicPr>
          <p:cNvPr id="9" name="Picture 8" descr="chart_46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005840"/>
            <a:ext cx="5943600" cy="36870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93192" y="4233672"/>
            <a:ext cx="5486400" cy="21031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42062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D4A01E"/>
                </a:solidFill>
                <a:latin typeface="Calibri"/>
              </a:defRPr>
            </a:pPr>
            <a:r>
              <a:t>Permutation Feature Importance (PFI)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6344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700" b="1">
                <a:solidFill>
                  <a:srgbClr val="2C3E50"/>
                </a:solidFill>
                <a:latin typeface="Calibri"/>
              </a:defRPr>
            </a:pPr>
            <a:r>
              <a:t>Top features by ROC-AUC drop: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E74C3C"/>
                </a:solidFill>
                <a:latin typeface="Calibri"/>
              </a:defRPr>
            </a:pPr>
            <a:r>
              <a:t>#1  number_inpatient (prior hospital visits)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E67E22"/>
                </a:solidFill>
                <a:latin typeface="Calibri"/>
              </a:defRPr>
            </a:pPr>
            <a:r>
              <a:t>#2  discharge_disposition_id (where sent)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2E86C1"/>
                </a:solidFill>
                <a:latin typeface="Calibri"/>
              </a:defRPr>
            </a:pPr>
            <a:r>
              <a:t>#3  number_diagnoses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Prior hospital utilization dominates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3912" y="4233672"/>
            <a:ext cx="5486400" cy="21031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42062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2976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D4A01E"/>
                </a:solidFill>
                <a:latin typeface="Calibri"/>
              </a:defRPr>
            </a:pPr>
            <a:r>
              <a:t>Partial Dependence Plots (PDP)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66344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700" b="1">
                <a:solidFill>
                  <a:srgbClr val="2C3E50"/>
                </a:solidFill>
                <a:latin typeface="Calibri"/>
              </a:defRPr>
            </a:pPr>
            <a:r>
              <a:t>Marginal effect on predicted probability: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E74C3C"/>
                </a:solidFill>
                <a:latin typeface="Calibri"/>
              </a:defRPr>
            </a:pPr>
            <a:r>
              <a:t>number_inpatient: Strong monotonic rise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  0 visits → ~10%  |  8+ visits → ~47%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E67E22"/>
                </a:solidFill>
                <a:latin typeface="Calibri"/>
              </a:defRPr>
            </a:pPr>
            <a:r>
              <a:t>discharge_disposition: Non-home = higher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Clinically actionable and interpretable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Threshold Optimization &amp; Sample Predictions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2286000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— Data Science Project  |  Midterm Project Review  |  Raj Panchal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65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CF0F1"/>
                </a:solidFill>
                <a:latin typeface="Calibri"/>
              </a:defRPr>
            </a:pPr>
            <a:r>
              <a:t>10 / 14</a:t>
            </a:r>
          </a:p>
        </p:txBody>
      </p:sp>
      <p:pic>
        <p:nvPicPr>
          <p:cNvPr id="8" name="Picture 7" descr="chart_48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5669280" cy="3940841"/>
          </a:xfrm>
          <a:prstGeom prst="rect">
            <a:avLst/>
          </a:prstGeom>
        </p:spPr>
      </p:pic>
      <p:pic>
        <p:nvPicPr>
          <p:cNvPr id="9" name="Picture 8" descr="chart_52_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005840"/>
            <a:ext cx="5943600" cy="181724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93192" y="4142232"/>
            <a:ext cx="5394960" cy="914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411480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4114800"/>
            <a:ext cx="109728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1605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74C3C"/>
                </a:solidFill>
                <a:latin typeface="Calibri"/>
              </a:defRPr>
            </a:pPr>
            <a:r>
              <a:t>BEFORE  (threshold = 0.50)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80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Accuracy: 88.6%  |  Recall: 2%  |  TP: 44 / 2,263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3912" y="4142232"/>
            <a:ext cx="5394960" cy="914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411480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4114800"/>
            <a:ext cx="109728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1605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7AE60"/>
                </a:solidFill>
                <a:latin typeface="Calibri"/>
              </a:defRPr>
            </a:pPr>
            <a:r>
              <a:t>AFTER  (threshold = 0.15)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480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C3E50"/>
                </a:solidFill>
                <a:latin typeface="Calibri"/>
              </a:defRPr>
            </a:pPr>
            <a:r>
              <a:t>Accuracy: 74.0%  |  Recall: 44%  |  TP: 1,004 / 2,263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" y="5330952"/>
            <a:ext cx="11155680" cy="10058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303520"/>
            <a:ext cx="11155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349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D4A01E"/>
                </a:solidFill>
                <a:latin typeface="Calibri"/>
              </a:defRPr>
            </a:pPr>
            <a:r>
              <a:t>LIVE PATIENT RISK ASSESSMENT 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669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High-Risk: Age 65, 2 prior visits, 15 meds → Prob: 0.19, MEDIUM RISK  |  Low-Risk: Age 35, 0 visits, 8 meds → Prob: 0.10, LOW RISK  |  Frequent: Age 75, 5 visits, 22 meds → Prob: 0.35, HIGH RISK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Biggest Problem Encountered &amp; How I Am Dealing With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2286000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— Data Science Project  |  Midterm Project Review  |  Raj Panchal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65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CF0F1"/>
                </a:solidFill>
                <a:latin typeface="Calibri"/>
              </a:defRPr>
            </a:pPr>
            <a:r>
              <a:t>11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" y="1124712"/>
            <a:ext cx="11247120" cy="10972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109728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188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74C3C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508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Severe class imbalance (88.6% negative vs 11.4% positive) causes high-accuracy models that are clinically useless. XGBoost at threshold 0.50 achieves 88.6% accuracy but catches only 2% of actual readmissions (44 out of 2,263).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" y="2496312"/>
            <a:ext cx="5394960" cy="2377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468880"/>
            <a:ext cx="5394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468880"/>
            <a:ext cx="109728" cy="2377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560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7AE60"/>
                </a:solidFill>
                <a:latin typeface="Calibri"/>
              </a:defRPr>
            </a:pPr>
            <a:r>
              <a:t>SOLUTION 1: SMOTE Oversampling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9260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•  Applied on training data only (no leakage)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•  Balanced: 70,421 per class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   (from 9,051 vs 70,421)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•  Test set remains untouched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E86C1"/>
                </a:solidFill>
                <a:latin typeface="Calibri"/>
              </a:defRPr>
            </a:pPr>
            <a:r>
              <a:t>Result: Models learn from both classes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36792" y="2496312"/>
            <a:ext cx="5394960" cy="2377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468880"/>
            <a:ext cx="5394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2468880"/>
            <a:ext cx="109728" cy="2377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2560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7AE60"/>
                </a:solidFill>
                <a:latin typeface="Calibri"/>
              </a:defRPr>
            </a:pPr>
            <a:r>
              <a:t>SOLUTION 2: Threshold Tuning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9260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•  Default 0.50 is too conservative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•  Swept thresholds 0.05 to 0.95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•  Optimal: 0.15 (maximizes F1)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2E86C1"/>
                </a:solidFill>
                <a:latin typeface="Calibri"/>
              </a:defRPr>
            </a:pPr>
            <a:r>
              <a:t>Result: Recall jumps 2% → 44%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E86C1"/>
                </a:solidFill>
                <a:latin typeface="Calibri"/>
              </a:defRPr>
            </a:pPr>
            <a:r>
              <a:t>(catches 22× more readmissions)</a:t>
            </a:r>
          </a:p>
        </p:txBody>
      </p:sp>
      <p:pic>
        <p:nvPicPr>
          <p:cNvPr id="23" name="Picture 22" descr="chart_10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983480"/>
            <a:ext cx="4572000" cy="2822510"/>
          </a:xfrm>
          <a:prstGeom prst="rect">
            <a:avLst/>
          </a:prstGeom>
        </p:spPr>
      </p:pic>
      <p:pic>
        <p:nvPicPr>
          <p:cNvPr id="24" name="Picture 23" descr="chart_56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4983480"/>
            <a:ext cx="68580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Revised Schedule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2286000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— Data Science Project  |  Midterm Project Review  |  Raj Panchal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65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CF0F1"/>
                </a:solidFill>
                <a:latin typeface="Calibri"/>
              </a:defRPr>
            </a:pPr>
            <a:r>
              <a:t>12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7AE60"/>
                </a:solidFill>
                <a:latin typeface="Calibri"/>
              </a:defRPr>
            </a:pPr>
            <a:r>
              <a:t>The project is on schedule. No revisions needed. All Week 1–5 milestones completed on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7AE60"/>
                </a:solidFill>
                <a:latin typeface="Calibri"/>
              </a:defRPr>
            </a:pPr>
            <a:r>
              <a:t>COMPLETED  (Weeks 1–5)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7AE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057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Dataset exploration &amp; literature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414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7AE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414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Week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4414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Data cleaning, missing values, encoding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2549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7AE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82549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Week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82549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Feature engineering &amp; binary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20954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7AE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20954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20954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Model training: LR, RF, XGBoost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5935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7AE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59359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Week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5935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Evaluation, selection &amp; midterm prep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192" y="4050792"/>
            <a:ext cx="5943600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023360"/>
            <a:ext cx="5943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069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67E22"/>
                </a:solidFill>
                <a:latin typeface="Calibri"/>
              </a:defRPr>
            </a:pPr>
            <a:r>
              <a:t>★  Mid-Term Project Review — March 3, 2026 (TODAY)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709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E86C1"/>
                </a:solidFill>
                <a:latin typeface="Calibri"/>
              </a:defRPr>
            </a:pPr>
            <a:r>
              <a:t>UPCOMING  (Weeks 6–12)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0749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E86C1"/>
                </a:solidFill>
                <a:latin typeface="Calibri"/>
              </a:defRPr>
            </a:pPr>
            <a:r>
              <a:t>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0749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Week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5074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Hyperparameter tuning &amp; cross-validation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4223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E86C1"/>
                </a:solidFill>
                <a:latin typeface="Calibri"/>
              </a:defRPr>
            </a:pPr>
            <a:r>
              <a:t>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42239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Week 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54223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Explainability: PFI &amp; PDP on XGBoost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76986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E86C1"/>
                </a:solidFill>
                <a:latin typeface="Calibri"/>
              </a:defRPr>
            </a:pPr>
            <a:r>
              <a:t>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76986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Week 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57698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Visualization of predictions &amp; results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11733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E86C1"/>
                </a:solidFill>
                <a:latin typeface="Calibri"/>
              </a:defRPr>
            </a:pPr>
            <a:r>
              <a:t>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611733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Wk 9–10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11680" y="611733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Draft &amp; write final report sections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6480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E86C1"/>
                </a:solidFill>
                <a:latin typeface="Calibri"/>
              </a:defRPr>
            </a:pPr>
            <a:r>
              <a:t>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64648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Wk 11–12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64648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Review, proofreading &amp; submission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85432" y="1673352"/>
            <a:ext cx="4846320" cy="48463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58000" y="1645920"/>
            <a:ext cx="48463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40880" y="17830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D4A01E"/>
                </a:solidFill>
                <a:latin typeface="Calibri"/>
              </a:defRPr>
            </a:pPr>
            <a:r>
              <a:t>PROGRESS OVERVIEW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224028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D4A01E"/>
                </a:solidFill>
                <a:latin typeface="Calibri"/>
              </a:defRPr>
            </a:pPr>
            <a:r>
              <a:t>42%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30632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7F8C8D"/>
                </a:solidFill>
                <a:latin typeface="Calibri"/>
              </a:defRPr>
            </a:pPr>
            <a:r>
              <a:t>5 of 12 weeks complete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06640" y="3520440"/>
            <a:ext cx="3749039" cy="2743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406640" y="3520440"/>
            <a:ext cx="1574596" cy="2743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0" y="402336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800" b="1">
                <a:solidFill>
                  <a:srgbClr val="2C3E50"/>
                </a:solidFill>
                <a:latin typeface="Calibri"/>
              </a:defRPr>
            </a:pPr>
            <a:r>
              <a:t>What Remains: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•  Hyperparameter tuning of XGBoost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•  Full PFI + PDP explainability analysis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•  Streamlit interactive dashboard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•  Prediction visualization &amp; tables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•  Complete final report (all sections)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27AE60"/>
                </a:solidFill>
                <a:latin typeface="Calibri"/>
              </a:defRPr>
            </a:pPr>
            <a:r>
              <a:t>Risk assessment: LOW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No blockers. Clear path forward.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Why This Project Should Continue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2286000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— Data Science Project  |  Midterm Project Review  |  Raj Panchal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65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CF0F1"/>
                </a:solidFill>
                <a:latin typeface="Calibri"/>
              </a:defRPr>
            </a:pPr>
            <a:r>
              <a:t>13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1170432"/>
            <a:ext cx="5532120" cy="2331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43000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109728" cy="23317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80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E86C1"/>
                </a:solidFill>
                <a:latin typeface="Calibri"/>
              </a:defRPr>
            </a:pPr>
            <a:r>
              <a:t>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307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C3E50"/>
                </a:solidFill>
                <a:latin typeface="Calibri"/>
              </a:defRPr>
            </a:pPr>
            <a:r>
              <a:t>Strong Foundation Built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73736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7F8C8D"/>
                </a:solidFill>
                <a:latin typeface="Calibri"/>
              </a:defRPr>
            </a:pPr>
            <a:r>
              <a:t>Complete data pipeline — from raw data (101,766 records) through cleaning, feature engineering, EDA, statistical validation, and preprocessing. Three models trained, evaluated, and XGBoost selected (ROC-AUC = 0.671).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170432"/>
            <a:ext cx="5532120" cy="2331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143000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143000"/>
            <a:ext cx="109728" cy="2331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280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7AE60"/>
                </a:solidFill>
                <a:latin typeface="Calibri"/>
              </a:defRPr>
            </a:pPr>
            <a:r>
              <a:t>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307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C3E50"/>
                </a:solidFill>
                <a:latin typeface="Calibri"/>
              </a:defRPr>
            </a:pPr>
            <a:r>
              <a:t>Clear Path to Completion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73736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7F8C8D"/>
                </a:solidFill>
                <a:latin typeface="Calibri"/>
              </a:defRPr>
            </a:pPr>
            <a:r>
              <a:t>Remaining work is well-defined: hyperparameter tuning (Wk 6), explainability with PFI and PDP (Wk 7), visualization (Wk 8), and report writing (Wk 9–12). Streamlit dashboard framework already built.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" y="3776472"/>
            <a:ext cx="5532120" cy="2331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749040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749040"/>
            <a:ext cx="109728" cy="2331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886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E67E22"/>
                </a:solidFill>
                <a:latin typeface="Calibri"/>
              </a:defRPr>
            </a:pPr>
            <a:r>
              <a:t>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913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C3E50"/>
                </a:solidFill>
                <a:latin typeface="Calibri"/>
              </a:defRPr>
            </a:pPr>
            <a:r>
              <a:t>Real-World Clinical 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4340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7F8C8D"/>
                </a:solidFill>
                <a:latin typeface="Calibri"/>
              </a:defRPr>
            </a:pPr>
            <a:r>
              <a:t>Hospital readmissions cost $26B+ annually. This project delivers an explainable prediction tool — not a black box. Clinicians understand why a patient is high-risk, enabling targeted interventions.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99632" y="3776472"/>
            <a:ext cx="5532120" cy="2331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3749040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749040"/>
            <a:ext cx="109728" cy="23317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886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8E44AD"/>
                </a:solidFill>
                <a:latin typeface="Calibri"/>
              </a:defRPr>
            </a:pPr>
            <a:r>
              <a:t>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913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C3E50"/>
                </a:solidFill>
                <a:latin typeface="Calibri"/>
              </a:defRPr>
            </a:pPr>
            <a:r>
              <a:t>On Schedule, No Blockers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34340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7F8C8D"/>
                </a:solidFill>
                <a:latin typeface="Calibri"/>
              </a:defRPr>
            </a:pPr>
            <a:r>
              <a:t>All 5 weeks completed on time. Biggest challenge (class imbalance) identified and addressed with SMOTE + threshold optimization. No risks or dependencies. Fully on track for April 24 deadline.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651760"/>
            <a:ext cx="2103120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017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ECF0F1"/>
                </a:solidFill>
                <a:latin typeface="Calibri"/>
              </a:defRPr>
            </a:pPr>
            <a:r>
              <a:t>Predictive Analytics and Explainable AI</a:t>
            </a:r>
            <a:br/>
            <a:r>
              <a:t>for Hospital Readmission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D4A01E"/>
                </a:solidFill>
                <a:latin typeface="Calibri"/>
              </a:defRPr>
            </a:pPr>
            <a:r>
              <a:t>Midterm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t>Raj Panchal (200490453)  |  CS 719  |  March 3,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1206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7F8C8D"/>
                </a:solidFill>
                <a:latin typeface="Calibri"/>
              </a:defRPr>
            </a:pPr>
            <a:r>
              <a:t>Instructor: Howard J. Hamilton  |  University of Regina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760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D4A01E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6539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— Data Science Project  |  Midterm Project Review  |  Raj Panchal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565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CF0F1"/>
                </a:solidFill>
                <a:latin typeface="Calibri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