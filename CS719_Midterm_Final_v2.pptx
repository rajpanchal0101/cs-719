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3200400"/>
            <a:ext cx="12191695" cy="54864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36576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Predictive Analytics and Explainable AI</a:t>
            </a:r>
            <a:br/>
            <a:r>
              <a:t>for Hospital Readmission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01E"/>
                </a:solidFill>
                <a:latin typeface="Calibri"/>
              </a:defRPr>
            </a:pPr>
            <a:r>
              <a:t>Midterm Project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27432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CS 719 — Data Science Project (Winter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Prepared By:  Raj Panchal (200490453)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Date:  March 3,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t>Under Esteemed Guidance of Instructor: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Howard J. Hamilton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University of Regina  |  Faculty of Science  |  Department of Computer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Goal, Motivation &amp;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" y="1545336"/>
            <a:ext cx="11247120" cy="105156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112471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81912"/>
            <a:ext cx="91440" cy="90525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00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C3E50"/>
                </a:solidFill>
                <a:latin typeface="Calibri"/>
              </a:defRPr>
            </a:pPr>
            <a:r>
              <a:t>Build a machine learning system that predicts whether a diabetic patient will be readmitted to the hospital within 30 days of discharge, and explain which clinical factors drive the prediction — enabling hospitals to intervene early and reduce costly readmissions.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449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" y="3191256"/>
            <a:ext cx="3520440" cy="13258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15468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27832"/>
            <a:ext cx="91440" cy="1179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E86C1"/>
                </a:solidFill>
                <a:latin typeface="Calibri"/>
              </a:defRPr>
            </a:pPr>
            <a:r>
              <a:t>$26 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03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Annual cost of unplanned</a:t>
            </a:r>
            <a:br/>
            <a:r>
              <a:t>readmissions in the U.S.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8536" y="3191256"/>
            <a:ext cx="3520440" cy="13258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315468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227832"/>
            <a:ext cx="91440" cy="1179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67E22"/>
                </a:solidFill>
                <a:latin typeface="Calibri"/>
              </a:defRPr>
            </a:pPr>
            <a:r>
              <a:t>11.4%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703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Diabetic patients in our</a:t>
            </a:r>
            <a:br/>
            <a:r>
              <a:t>dataset readmitted within 30 days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3191256"/>
            <a:ext cx="3520440" cy="13258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315468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3227832"/>
            <a:ext cx="91440" cy="1179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7AE60"/>
                </a:solidFill>
                <a:latin typeface="Calibri"/>
              </a:defRPr>
            </a:pPr>
            <a:r>
              <a:t>Preventable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703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Early risk identification can</a:t>
            </a:r>
            <a:br/>
            <a:r>
              <a:t>trigger targeted interventions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METHOD — 6-Step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6519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93776" y="5065776"/>
            <a:ext cx="11247120" cy="11887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" y="5193792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17550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</a:t>
            </a:r>
            <a:br/>
            <a:r>
              <a:t>Cleaning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286000" y="5285232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0" y="5193792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517550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114800" y="5285232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89120" y="5193792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517550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Train 3</a:t>
            </a:r>
            <a:br/>
            <a:r>
              <a:t>Models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943600" y="5285232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17920" y="5193792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517550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Compare &amp;</a:t>
            </a:r>
            <a:br/>
            <a:r>
              <a:t>Select Best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772400" y="5285232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046720" y="5193792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17550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Explain</a:t>
            </a:r>
            <a:br/>
            <a:r>
              <a:t>(PFI + PDP)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601200" y="5285232"/>
            <a:ext cx="228600" cy="22860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875520" y="5193792"/>
            <a:ext cx="411480" cy="411480"/>
          </a:xfrm>
          <a:prstGeom prst="ellipse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78440" y="517550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Interactive</a:t>
            </a:r>
            <a:br/>
            <a:r>
              <a:t>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Pictorial Overview — Project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3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260604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Raw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101,766 records</a:t>
            </a:r>
            <a:br/>
            <a:r>
              <a:t>50 features</a:t>
            </a:r>
            <a:br/>
            <a:r>
              <a:t>130 US hospitals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17520" y="178308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23444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234440"/>
            <a:ext cx="2606040" cy="5486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97A7"/>
                </a:solidFill>
                <a:latin typeface="Calibri"/>
              </a:defRPr>
            </a:pPr>
            <a:r>
              <a:t>Data 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78308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Drop high-null cols</a:t>
            </a:r>
            <a:br/>
            <a:r>
              <a:t>Remove expired rows</a:t>
            </a:r>
            <a:br/>
            <a:r>
              <a:t>99,340 × 42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178308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123444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234440"/>
            <a:ext cx="2606040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A5F5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78308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4 new features</a:t>
            </a:r>
            <a:br/>
            <a:r>
              <a:t>Binary target</a:t>
            </a:r>
            <a:br/>
            <a:r>
              <a:t>99,340 × 23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61120" y="178308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81160" y="123444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60" y="1234440"/>
            <a:ext cx="260604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E44AD"/>
                </a:solidFill>
                <a:latin typeface="Calibri"/>
              </a:defRPr>
            </a:pPr>
            <a:r>
              <a:t>Exploratory</a:t>
            </a:r>
            <a:br/>
            <a:r>
              <a:t>Data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78308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Distributions</a:t>
            </a:r>
            <a:br/>
            <a:r>
              <a:t>Correlations</a:t>
            </a:r>
            <a:br/>
            <a:r>
              <a:t>Statistical tests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9320" y="2788920"/>
            <a:ext cx="228600" cy="274320"/>
          </a:xfrm>
          <a:prstGeom prst="down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" y="324612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246120"/>
            <a:ext cx="260604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B300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7947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One-Hot Encode</a:t>
            </a:r>
            <a:br/>
            <a:r>
              <a:t>80/20 split</a:t>
            </a:r>
            <a:br/>
            <a:r>
              <a:t>SMOTE + Scale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017520" y="379476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37560" y="324612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37560" y="3246120"/>
            <a:ext cx="260604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7947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Logistic Regression</a:t>
            </a:r>
            <a:br/>
            <a:r>
              <a:t>Random Forest</a:t>
            </a:r>
            <a:br/>
            <a:r>
              <a:t>XGBoost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989320" y="379476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09360" y="3246120"/>
            <a:ext cx="26060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3246120"/>
            <a:ext cx="260604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3832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Evaluation &amp;</a:t>
            </a:r>
            <a:br/>
            <a:r>
              <a:t>Selection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7947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ROC-AUC, F1, CV</a:t>
            </a:r>
            <a:br/>
            <a:r>
              <a:t>Confusion matrices</a:t>
            </a:r>
            <a:br/>
            <a:r>
              <a:t>Best: XGBoost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5989320" y="4800600"/>
            <a:ext cx="228600" cy="274320"/>
          </a:xfrm>
          <a:prstGeom prst="down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5760" y="525780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5257800"/>
            <a:ext cx="26060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349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64184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PFI + PDP</a:t>
            </a:r>
            <a:br/>
            <a:r>
              <a:t>on best model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3017520" y="553212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337560" y="525780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37560" y="5257800"/>
            <a:ext cx="2606040" cy="5486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0" y="5349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7A7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564184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Streamlit app</a:t>
            </a:r>
            <a:br/>
            <a:r>
              <a:t>what-if analysis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989320" y="5532120"/>
            <a:ext cx="320040" cy="27432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09360" y="525780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257800"/>
            <a:ext cx="2606040" cy="54864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349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253D"/>
                </a:solidFill>
                <a:latin typeface="Calibri"/>
              </a:defRPr>
            </a:pPr>
            <a:r>
              <a:t>Final Report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564184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Complete</a:t>
            </a:r>
            <a:br/>
            <a:r>
              <a:t>write-up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63456" y="3282696"/>
            <a:ext cx="2651760" cy="29260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26880" y="3246120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26880" y="3319272"/>
            <a:ext cx="91440" cy="27797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0" y="3337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01200" y="3703320"/>
            <a:ext cx="219456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Rows 1 &amp; 2: DONE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4114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Data pipeline fully</a:t>
            </a:r>
            <a:br/>
            <a:r>
              <a:t>complete. Models</a:t>
            </a:r>
            <a:br/>
            <a:r>
              <a:t>trained &amp; evaluated.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4754880"/>
            <a:ext cx="219456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01200" y="4846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Row 3: UPCOMING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51663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Explainability, dashboard</a:t>
            </a:r>
            <a:br/>
            <a:r>
              <a:t>&amp; final report in</a:t>
            </a:r>
            <a:br/>
            <a:r>
              <a:t>Weeks 6-12.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Original Project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47120" cy="402336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4358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2435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24358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2435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9344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65506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16550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Jan 27 - Feb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65506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Dataset exploration &amp; literature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1655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02536"/>
            <a:ext cx="1124712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04825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0482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Feb 3 - Feb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04825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 cleaning, missing values, encoding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04825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95728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4144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4414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Feb 10 - Feb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44144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Feature engineering &amp; binary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4414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8920"/>
            <a:ext cx="1124712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83464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28346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Feb 17 - Feb 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283464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Model training: LR, RF, XGBoost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834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182112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2278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2278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Feb 24 - Mar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22783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Evaluation, model selection, midterm prep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2278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575304"/>
            <a:ext cx="11247120" cy="39319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362102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Mar 3,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362102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MILESTONE: Mid-Term Project Review (TODAY)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36210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7E22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968496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0142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401421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Mar 4 - Mar 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401421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Hyperparameter tuning &amp; cross-validation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40142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361688"/>
            <a:ext cx="1124712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4074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4074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Mar 11 - Mar 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39" y="440740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Explainability: PFI &amp; PDP on final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44074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54880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800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48006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Mar 18 - Mar 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39" y="480060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Visualization of predictions &amp; results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48006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148072"/>
            <a:ext cx="1124712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1937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0" y="51937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Mar 25 - Mar 31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9039" y="519379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Draft report: Intro, Background, Results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51937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41264"/>
            <a:ext cx="112471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58698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Wk 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558698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Apr 1 - Apr 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49039" y="558698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Discussion, Conclusion; figures &amp; tables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5586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5934456"/>
            <a:ext cx="1124712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9801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Wk 11-12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28800" y="59801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Apr 8 - Apr 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49039" y="598017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Review, proofreading &amp; final formatting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66960" y="59801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6327648"/>
            <a:ext cx="11247120" cy="39319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28800" y="6373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Apr 24, 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49039" y="63733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7E22"/>
                </a:solidFill>
                <a:latin typeface="Calibri"/>
              </a:defRPr>
            </a:pPr>
            <a:r>
              <a:t>MILESTONE: Final Project Report Due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7336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7E22"/>
                </a:solidFill>
                <a:latin typeface="Calibri"/>
              </a:defRPr>
            </a:pPr>
            <a:r>
              <a:t>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1 — Data Preparation &amp; Feature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5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WHAT WAS 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" y="1545336"/>
            <a:ext cx="5852160" cy="242316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5852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81912"/>
            <a:ext cx="91440" cy="227685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0020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Cleaned 101,766 records from 130 US hospitals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Dropped 4 high-null + 2 zero-variance columns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Removed 2,426 expired/hospice rows -&gt; 99,340 x 42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Engineered 4 new features: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   total_visits, num_med_changed,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   num_med_active, age_numeric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Binary target: &lt;30d = 1 (11.4%), else = 0 (88.6%)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Dropped 21 medication cols -&gt; final: 99,340 x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MISSING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37376" y="1545336"/>
            <a:ext cx="5303520" cy="242316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508760"/>
            <a:ext cx="53035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rt_13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4937760" cy="24184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TARGET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7083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" y="4471416"/>
            <a:ext cx="5303520" cy="1874519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53035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rt_19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26280"/>
            <a:ext cx="4846320" cy="1691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836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DATA TRANSFORMATION 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37083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7376" y="4471416"/>
            <a:ext cx="5303520" cy="1874519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4434840"/>
            <a:ext cx="53035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507992"/>
            <a:ext cx="91440" cy="1728215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572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Before:  101,766 rows x 50 columns (202 MB)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After:    99,340 rows x 23 columns (clean)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Positive class rate: 11.39% (11,314 readmissions)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Negative class rate: 88.61% (88,026 not readmitted)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1 — Exploratory Analysis &amp; Statistical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6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READMISSION BY AGE &amp; INPATIENT VISITS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" y="1545336"/>
            <a:ext cx="7132320" cy="25146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71323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art_24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675120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467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KEY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00416" y="1545336"/>
            <a:ext cx="3931920" cy="25146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0" y="1508760"/>
            <a:ext cx="393192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581912"/>
            <a:ext cx="91440" cy="236829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64592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Prior inpatient visits is the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strongest predictor of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30-day readmission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7AE60"/>
                </a:solidFill>
                <a:latin typeface="Calibri"/>
              </a:defRPr>
            </a:pPr>
            <a:r>
              <a:t>0 visits -&gt; 9% readmission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E67E22"/>
                </a:solidFill>
                <a:latin typeface="Calibri"/>
              </a:defRPr>
            </a:pPr>
            <a:r>
              <a:t>4 visits -&gt; 25% readmission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8 visits -&gt; 47% readmission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Near-linear monotonic increase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CORRELATION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6227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" y="4562856"/>
            <a:ext cx="4846320" cy="17830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48463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rt_21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572000"/>
            <a:ext cx="4389120" cy="1691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607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STATISTICAL TEST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446227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14416" y="4562856"/>
            <a:ext cx="6217920" cy="17830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77840" y="4526280"/>
            <a:ext cx="6217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0" y="4599432"/>
            <a:ext cx="91440" cy="16367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4617720"/>
            <a:ext cx="5760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Shapiro-Wilk: All features non-normal (p = 0.00)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   -&gt; Justifies tree-based models over parametric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Chi2 (diag_1 vs readmitted): p = 0.00 -- SIGNIFICANT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   Diagnosis category predicts readmission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E74C3C"/>
                </a:solidFill>
                <a:latin typeface="Calibri"/>
              </a:defRPr>
            </a:pPr>
            <a:r>
              <a:t>Chi2 (gender vs readmitted): p = 0.43 -- NOT significant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   Gender does NOT predict readmission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Pearson: num_meds vs lab_procs r = 0.27 (weak)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2 — Model Training, Evaluation &amp;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THREE MODELS TRAINED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" y="1545336"/>
            <a:ext cx="3520440" cy="20116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81912"/>
            <a:ext cx="91440" cy="18653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E86C1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9202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Linear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194560"/>
            <a:ext cx="228600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331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max_iter=1000</a:t>
            </a:r>
            <a:br/>
            <a:r>
              <a:t>solver=lbfgs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331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Acc: 64.0%</a:t>
            </a:r>
            <a:br/>
            <a:r>
              <a:t>ROC-AUC: 0.642</a:t>
            </a:r>
            <a:br/>
            <a:r>
              <a:t>Recall: 55%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545336"/>
            <a:ext cx="3520440" cy="20116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97680" y="150876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581912"/>
            <a:ext cx="91440" cy="18653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E44AD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9202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Ensemble (Bagging)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194560"/>
            <a:ext cx="2286000" cy="25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331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200 trees</a:t>
            </a:r>
            <a:br/>
            <a:r>
              <a:t>max_depth=15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331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Acc: 88.0%</a:t>
            </a:r>
            <a:br/>
            <a:r>
              <a:t>ROC-AUC: 0.653</a:t>
            </a:r>
            <a:br/>
            <a:r>
              <a:t>Recall: 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1545336"/>
            <a:ext cx="3520440" cy="20116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8160" y="1508760"/>
            <a:ext cx="3520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581912"/>
            <a:ext cx="91440" cy="18653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1600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19202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Ensemble (Boosting)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2194560"/>
            <a:ext cx="2286000" cy="25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2331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200 estimators</a:t>
            </a:r>
            <a:br/>
            <a:r>
              <a:t>max_depth=6, lr=0.1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331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Acc: 88.6%</a:t>
            </a:r>
            <a:br/>
            <a:r>
              <a:t>ROC-AUC: 0.671</a:t>
            </a:r>
            <a:br/>
            <a:r>
              <a:t>Recall: 2%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1463040"/>
            <a:ext cx="329184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1463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⭐ SELECTED -- Best ROC-AUC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CONFUSION MATRICES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9593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3776" y="4059936"/>
            <a:ext cx="7132320" cy="22860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4023360"/>
            <a:ext cx="7132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hart_36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6766560" cy="21031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04672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MODEL COMPARISON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9593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00416" y="4059936"/>
            <a:ext cx="3931920" cy="22860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63840" y="4023360"/>
            <a:ext cx="39319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hart_39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4114800"/>
            <a:ext cx="3749039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3 — Deeper Insights from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8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E86C1"/>
                </a:solidFill>
                <a:latin typeface="Calibri"/>
              </a:defRPr>
            </a:pPr>
            <a:r>
              <a:t>ROC CURVES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44752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" y="1545336"/>
            <a:ext cx="3749039" cy="23774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1508760"/>
            <a:ext cx="3749039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art_37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356616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91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PRECISION-RECALL CURVES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444752"/>
            <a:ext cx="137160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42816" y="1545336"/>
            <a:ext cx="3749039" cy="23774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1508760"/>
            <a:ext cx="3749039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_38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3566160" cy="21945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E44AD"/>
                </a:solidFill>
                <a:latin typeface="Calibri"/>
              </a:defRPr>
            </a:pPr>
            <a:r>
              <a:t>CROSS-VALIDATION STABILITY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444752"/>
            <a:ext cx="1371600" cy="381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74736" y="1545336"/>
            <a:ext cx="3749039" cy="23774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508760"/>
            <a:ext cx="3749039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art_40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00200"/>
            <a:ext cx="3566160" cy="21945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10896" y="4105656"/>
            <a:ext cx="3749039" cy="21488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4320" y="4069080"/>
            <a:ext cx="374903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142232"/>
            <a:ext cx="91440" cy="200253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ROC Curves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XGBoost: 0.671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RF: 0.653  |  LR: 0.642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All models above random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baseline (0.5). XGBoost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consistently leads.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2816" y="4105656"/>
            <a:ext cx="3749039" cy="21488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06240" y="4069080"/>
            <a:ext cx="374903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4142232"/>
            <a:ext cx="91440" cy="20025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Precision-Recall Curves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XGBoost AP: 0.228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LR: 0.202  |  RF: 0.199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All above baseline prevalence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(0.114). Steep drop-off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confirms hard task.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74736" y="4105656"/>
            <a:ext cx="3749039" cy="21488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8160" y="4069080"/>
            <a:ext cx="374903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142232"/>
            <a:ext cx="91440" cy="200253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E44AD"/>
                </a:solidFill>
                <a:latin typeface="Calibri"/>
              </a:defRPr>
            </a:pPr>
            <a:r>
              <a:t>Cross-Validation Stability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8E44AD"/>
                </a:solidFill>
                <a:latin typeface="Calibri"/>
              </a:defRPr>
            </a:pPr>
            <a:r>
              <a:t>RF: 0.960  |  XGB: 0.958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LR: 0.654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RF and XGBoost both highly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stable (s = 0.0015). Tree-based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models vastly outperform LR.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Achievement 3 — Explainability: PFI &amp; PDP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9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PERMUTATION FEATURE IMPORTANCE (PFI)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" y="1545336"/>
            <a:ext cx="5577840" cy="23774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art_44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PARTIAL DEPENDENCE PLOTS (PDP)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1545336"/>
            <a:ext cx="5577840" cy="23774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50876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_46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5394960" cy="21945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93776" y="4151376"/>
            <a:ext cx="5577840" cy="21031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5577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87952"/>
            <a:ext cx="91440" cy="19568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A01E"/>
                </a:solidFill>
                <a:latin typeface="Calibri"/>
              </a:defRPr>
            </a:pPr>
            <a:r>
              <a:t>Permutation Feature Importance (PFI)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Top features by ROC-AUC drop: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#1  number_inpatient (prior hospital visits)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#2  discharge_disposition_id (where sent)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E86C1"/>
                </a:solidFill>
                <a:latin typeface="Calibri"/>
              </a:defRPr>
            </a:pPr>
            <a:r>
              <a:t>#3  number_diagnoses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Prior hospital utilization dominates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4151376"/>
            <a:ext cx="5577840" cy="21031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4114800"/>
            <a:ext cx="5577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187952"/>
            <a:ext cx="91440" cy="19568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4A01E"/>
                </a:solidFill>
                <a:latin typeface="Calibri"/>
              </a:defRPr>
            </a:pPr>
            <a:r>
              <a:t>Partial Dependence Plots (PDP)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Marginal effect on predicted probability: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number_inpatient: Strong monotonic rise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  0 visits -&gt; ~10%  |  8+ visits -&gt; ~47%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discharge_disposition: Non-home = higher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Clinically actionable and interpretable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Threshold Optimization &amp; Sample Predictions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THRESHOLD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" y="1545336"/>
            <a:ext cx="5577840" cy="23774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art_48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39496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SAMPLE PREDICTIONS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44475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1545336"/>
            <a:ext cx="5577840" cy="23774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508760"/>
            <a:ext cx="5577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_52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5394960" cy="21945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93776" y="4151376"/>
            <a:ext cx="5577840" cy="9144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5577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87952"/>
            <a:ext cx="91440" cy="76809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74C3C"/>
                </a:solidFill>
                <a:latin typeface="Calibri"/>
              </a:defRPr>
            </a:pPr>
            <a:r>
              <a:t>BEFORE  (threshold = 0.50)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Accuracy: 88.6%  |  Recall: 2%  |  TP: 44 / 2,263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4151376"/>
            <a:ext cx="5577840" cy="9144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4114800"/>
            <a:ext cx="55778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187952"/>
            <a:ext cx="91440" cy="7680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160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AFTER  (threshold = 0.15)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Accuracy: 74.0%  |  Recall: 44%  |  TP: 1,004 / 2,263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LIVE PATIENT RISK ASSESSMENT DEMO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6811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3776" y="5568696"/>
            <a:ext cx="11338560" cy="77724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5532120"/>
            <a:ext cx="11338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605272"/>
            <a:ext cx="91440" cy="63093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High-Risk: Age 65, 2 prior visits, 15 meds -&gt; Prob: 0.19, MEDIUM RISK  |  Low-Risk: Age 35, 0 visits, 8 meds -&gt; Prob: 0.10, LOW RISK  |  Frequent: Age 75, 5 visits, 22 meds -&gt; Prob: 0.35, HIGH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Biggest Problem Encountered &amp; How I Am Dealing With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11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44752"/>
            <a:ext cx="137160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" y="1545336"/>
            <a:ext cx="11247120" cy="9144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11247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81912"/>
            <a:ext cx="91440" cy="76809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00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Severe class imbalance (88.6% negative vs 11.4% positive) causes high-accuracy models that are clinically useless. XGBoost at threshold 0.50 achieves 88.6% accuracy but catches only 2% of actual readmissions (44 out of 2,263).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SOLUTION 1: SMOTE Oversampling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62072"/>
            <a:ext cx="137160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" y="2962656"/>
            <a:ext cx="5577840" cy="18288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926080"/>
            <a:ext cx="5577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99232"/>
            <a:ext cx="91440" cy="16824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63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Applied on training data only (no leakage)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Balanced: 70,421 per class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   (from 9,051 vs 70,421)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Test set remains untouched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Result: Models learn from both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SOLUTION 2: Threshold Tuning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862072"/>
            <a:ext cx="137160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5936" y="2962656"/>
            <a:ext cx="5577840" cy="182880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2926080"/>
            <a:ext cx="5577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999232"/>
            <a:ext cx="91440" cy="16824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063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Default 0.50 is too conservative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Swept thresholds 0.05 to 0.95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•  Optimal: 0.15 (maximizes F1)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Result: Recall jumps 2% -&gt; 44%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E86C1"/>
                </a:solidFill>
                <a:latin typeface="Calibri"/>
              </a:defRPr>
            </a:pPr>
            <a:r>
              <a:t>(catches 22x more readmissions)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CLASS IMBALANCE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19379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3776" y="5294376"/>
            <a:ext cx="5577840" cy="105156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257800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rt_10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303520"/>
            <a:ext cx="5212080" cy="9601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01E"/>
                </a:solidFill>
                <a:latin typeface="Calibri"/>
              </a:defRPr>
            </a:pPr>
            <a:r>
              <a:t>SMOTE EFFECT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193792"/>
            <a:ext cx="13716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45936" y="5294376"/>
            <a:ext cx="5577840" cy="105156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60" y="5257800"/>
            <a:ext cx="55778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art_56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303520"/>
            <a:ext cx="521208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Revised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12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179576"/>
            <a:ext cx="11247120" cy="5029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43000"/>
            <a:ext cx="112471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16152"/>
            <a:ext cx="91440" cy="35661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The project is on schedule. No revisions needed. All Week 1-5 milestones completed on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COMPLETED (Weeks 1-5)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30551"/>
            <a:ext cx="137160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4028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02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402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Dataset exploration &amp; literature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0604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0604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606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Data cleaning, missing values,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718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9718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9718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Feature engineering &amp; binary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3756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3375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3375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Model training: LR, RF, 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70332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7033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703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Evaluation, selection &amp; midterm prep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" y="4151376"/>
            <a:ext cx="5943600" cy="41148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4114800"/>
            <a:ext cx="5943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187952"/>
            <a:ext cx="91440" cy="2651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422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67E22"/>
                </a:solidFill>
                <a:latin typeface="Calibri"/>
              </a:defRPr>
            </a:pPr>
            <a:r>
              <a:t>★  Mid-Term Project Review -- March 3, 2026 (TODAY)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E86C1"/>
                </a:solidFill>
                <a:latin typeface="Calibri"/>
              </a:defRPr>
            </a:pPr>
            <a:r>
              <a:t>UPCOMING (Weeks 6-12)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010912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074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074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Hyperparameter tuning &amp; cross-validation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394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5394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Explainability: PFI &amp; PDP on XGBoost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150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715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Visualization of predictions &amp; results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035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60350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Wk 9-10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6035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Draft &amp; write final report sections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355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E86C1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6355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Wk 11-12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6355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Review, proofreading &amp; submission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94576" y="1865376"/>
            <a:ext cx="4754880" cy="43891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858000" y="1828800"/>
            <a:ext cx="4754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58000" y="1901952"/>
            <a:ext cx="91440" cy="424281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D4A01E"/>
                </a:solidFill>
                <a:latin typeface="Calibri"/>
              </a:defRPr>
            </a:pPr>
            <a:r>
              <a:t>PROGRESS OVERVIEW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24688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D4A01E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5 of 12 weeks complete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3703320"/>
            <a:ext cx="3566160" cy="2743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498079" y="3703320"/>
            <a:ext cx="1497787" cy="27432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78040" y="4160520"/>
            <a:ext cx="4114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What Remains: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Hyperparameter tuning of XGBoost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Full PFI + PDP explainability analysis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Streamlit interactive dashboard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Prediction visualization &amp; tables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 Complete final report (all sections)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27AE60"/>
                </a:solidFill>
                <a:latin typeface="Calibri"/>
              </a:defRPr>
            </a:pPr>
            <a:r>
              <a:t>Risk assessment: LOW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No blockers. Clear path forward.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2286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This Project Should Continue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13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" y="1225296"/>
            <a:ext cx="5532120" cy="23317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18872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61872"/>
            <a:ext cx="91440" cy="218541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E86C1"/>
                </a:solidFill>
                <a:latin typeface="Calibri"/>
              </a:defRPr>
            </a:pPr>
            <a:r>
              <a:t>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3533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Strong Foundation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Complete data pipeline -- from raw data (101,766 records) through cleaning, feature engineering, EDA, statistical validation, and preprocessing. Three models trained, evaluated, and XGBoost selected (ROC-AUC = 0.671).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225296"/>
            <a:ext cx="5532120" cy="23317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18872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61872"/>
            <a:ext cx="91440" cy="218541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7AE60"/>
                </a:solidFill>
                <a:latin typeface="Calibri"/>
              </a:defRPr>
            </a:pPr>
            <a:r>
              <a:t>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3533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Clear Path to Completion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Remaining work is well-defined: hyperparameter tuning (Wk 6), explainability with PFI and PDP (Wk 7), visualization (Wk 8), and report writing (Wk 9-12). Streamlit dashboard framework already built.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" y="3831336"/>
            <a:ext cx="5532120" cy="23317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79476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67912"/>
            <a:ext cx="91440" cy="218541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E67E22"/>
                </a:solidFill>
                <a:latin typeface="Calibri"/>
              </a:defRPr>
            </a:pPr>
            <a:r>
              <a:t>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9593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Real-World Clinical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891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Hospital readmissions cost $26B+ annually. This project delivers an explainable prediction tool -- not a black box. Clinicians understand why a patient is high-risk, enabling targeted interventions.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0216" y="3831336"/>
            <a:ext cx="5532120" cy="2331720"/>
          </a:xfrm>
          <a:prstGeom prst="round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379476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867912"/>
            <a:ext cx="91440" cy="218541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8E44AD"/>
                </a:solidFill>
                <a:latin typeface="Calibri"/>
              </a:defRPr>
            </a:pPr>
            <a:r>
              <a:t>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9593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On Schedule, No Blockers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3891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7F8C8D"/>
                </a:solidFill>
                <a:latin typeface="Calibri"/>
              </a:defRPr>
            </a:pPr>
            <a:r>
              <a:t>All 5 weeks completed on time. Biggest challenge (class imbalance) identified and addressed with SMOTE + threshold optimization. No risks or dependencies. Fully on track for April 24 deadline.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6095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651760"/>
            <a:ext cx="210312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Predictive Analytics and Explainable AI</a:t>
            </a:r>
            <a:br/>
            <a:r>
              <a:t>for Hospital Readmission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9319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4A01E"/>
                </a:solidFill>
                <a:latin typeface="Calibri"/>
              </a:defRPr>
            </a:pPr>
            <a:r>
              <a:t>Midterm 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Raj Panchal (200490453)  |  CS 719  |  March 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206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t>Instructor: Howard J. Hamilton  |  University of Regina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01E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t>CS 719 — Data Science Project  |  Midterm Project Review  |  Raj Panchal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CF0F1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