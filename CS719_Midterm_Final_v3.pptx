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36576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Predictive Analytics and</a:t>
            </a:r>
            <a:br/>
            <a:r>
              <a:t>Explainable AI for Hospital</a:t>
            </a:r>
            <a:br/>
            <a:r>
              <a:t>Readmission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D4A01E"/>
                </a:solidFill>
                <a:latin typeface="Calibri"/>
              </a:defRPr>
            </a:pPr>
            <a:r>
              <a:t>Midterm Project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023360"/>
            <a:ext cx="2743200" cy="381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ECF0F1"/>
                </a:solidFill>
                <a:latin typeface="Calibri"/>
              </a:defRPr>
            </a:pPr>
            <a:r>
              <a:t>CS 719 — Data Science Project  |  Winter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Raj Panchal  (200490453)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March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Instructor:  Howard J. Hamilton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University of Regina  |  Department of Computer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Goal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Predict whether a diabetic patient will be readmitted within 30 days and explain which clinical factors drive the prediction — enabling hospitals to intervene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E86C1"/>
                </a:solidFill>
                <a:latin typeface="Calibri"/>
              </a:defRPr>
            </a:pPr>
            <a:r>
              <a:t>$26 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Annual cost of unplanned</a:t>
            </a:r>
            <a:br/>
            <a:r>
              <a:t>readmissions in the U.S.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108960"/>
            <a:ext cx="35661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E67E22"/>
                </a:solidFill>
                <a:latin typeface="Calibri"/>
              </a:defRPr>
            </a:pPr>
            <a:r>
              <a:t>11.4 %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Patients in our dataset</a:t>
            </a:r>
            <a:br/>
            <a:r>
              <a:t>readmitted within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10896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108960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27AE60"/>
                </a:solidFill>
                <a:latin typeface="Calibri"/>
              </a:defRPr>
            </a:pPr>
            <a:r>
              <a:t>Preventable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Early risk identification</a:t>
            </a:r>
            <a:br/>
            <a:r>
              <a:t>triggers interventions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Method — 6-Step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0280" y="246888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2286000"/>
            <a:ext cx="640080" cy="64008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60520" y="246888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0" y="228600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Train 3</a:t>
            </a:r>
            <a:br/>
            <a:r>
              <a:t>Models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246888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228600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Compare &amp;</a:t>
            </a:r>
            <a:br/>
            <a:r>
              <a:t>Select Best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01000" y="246888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228600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Explain</a:t>
            </a:r>
            <a:br/>
            <a:r>
              <a:t>(PFI + PDP)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21240" y="2468880"/>
            <a:ext cx="365760" cy="320040"/>
          </a:xfrm>
          <a:prstGeom prst="rightArrow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228600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228600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Interactive</a:t>
            </a:r>
            <a:br/>
            <a:r>
              <a:t>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11247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Trained Logistic Regression, Random Forest, and XGBoost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XGBoost selected as best model (ROC-AUC = 0.671)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Explainability via Permutation Feature Importance &amp; Partial Dependence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1143000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16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216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73352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282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7282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Jan 27 - Feb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282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7282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48840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2037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203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3 - Feb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203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203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24328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791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2679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10 - Feb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679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Feature engineering &amp; binary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6791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99816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17 - Feb 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154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75304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630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Feb 24 - Mar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630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Evaluation, model selection, midterm prep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630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✓ Done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050792"/>
            <a:ext cx="11430000" cy="47548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4105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Mar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105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MILESTONE: Mid-Term Review (TODAY)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1056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2628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5811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6-7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5811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4 - Mar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5811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Hyperparameter tuning &amp; explainability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5811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001768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0566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18 - Mar 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056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Visualization of predictions &amp;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5056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477256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Wk 9-10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1168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Mar 25 - Apr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532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Draft report: all sections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952744"/>
            <a:ext cx="1143000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007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C3E50"/>
                </a:solidFill>
                <a:latin typeface="Calibri"/>
              </a:defRPr>
            </a:pPr>
            <a:r>
              <a:t>Wk 11-12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0" y="6007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Apr 8 - Apr 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6007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3E50"/>
                </a:solidFill>
                <a:latin typeface="Calibri"/>
              </a:defRPr>
            </a:pPr>
            <a:r>
              <a:t>Review, proofreading &amp; submission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6007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Upcoming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6428232"/>
            <a:ext cx="11430000" cy="47548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0" y="64830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Apr 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64830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7E22"/>
                </a:solidFill>
                <a:latin typeface="Calibri"/>
              </a:defRPr>
            </a:pPr>
            <a:r>
              <a:t>MILESTONE: Final Report Due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64830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1 — 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•  Cleaned 101,766 records from 130 US hospitals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•  Dropped 4 high-null + 2 zero-variance columns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•  Removed 2,426 expired/hospice rows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•  Engineered 4 new features: total_visits, num_med_changed,</a:t>
            </a:r>
            <a:br/>
            <a:r>
              <a:t>   num_med_active, age_numeric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600" b="0">
                <a:solidFill>
                  <a:srgbClr val="2C3E50"/>
                </a:solidFill>
                <a:latin typeface="Calibri"/>
              </a:defRPr>
            </a:pPr>
            <a:r>
              <a:t>•  Binary target: readmitted &lt;30 days = 1 (11.4%),  else = 0 (88.6%)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09728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101,766 rows  ×  50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9377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937760"/>
            <a:ext cx="10972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440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99,340 rows  ×  23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Target Variable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7772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1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06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27AE60"/>
                </a:solidFill>
                <a:latin typeface="Calibri"/>
              </a:defRPr>
            </a:pPr>
            <a:r>
              <a:t>88.6%</a:t>
            </a:r>
          </a:p>
          <a:p>
            <a:pPr>
              <a:spcBef>
                <a:spcPts val="0"/>
              </a:spcBef>
              <a:spcAft>
                <a:spcPts val="24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Not readmitted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E74C3C"/>
                </a:solidFill>
                <a:latin typeface="Calibri"/>
              </a:defRPr>
            </a:pPr>
            <a:r>
              <a:t>11.4%</a:t>
            </a:r>
          </a:p>
          <a:p>
            <a:pPr>
              <a:spcBef>
                <a:spcPts val="0"/>
              </a:spcBef>
              <a:spcAft>
                <a:spcPts val="24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Readmitted</a:t>
            </a:r>
            <a:br/>
            <a:r>
              <a:t>within 30 days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67E22"/>
                </a:solidFill>
                <a:latin typeface="Calibri"/>
              </a:defRPr>
            </a:pPr>
            <a:r>
              <a:t>Severe class</a:t>
            </a:r>
            <a:br/>
            <a:r>
              <a:t>imbalance!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Discovery — Readmission by Prior Visits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7772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2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06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defRPr sz="2400" b="1">
                <a:solidFill>
                  <a:srgbClr val="2C3E50"/>
                </a:solidFill>
                <a:latin typeface="Calibri"/>
              </a:defRPr>
            </a:pPr>
            <a:r>
              <a:t>Prior inpatient</a:t>
            </a:r>
            <a:br/>
            <a:r>
              <a:t>visits = strongest</a:t>
            </a:r>
            <a:br/>
            <a:r>
              <a:t>predictor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0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7AE60"/>
                </a:solidFill>
                <a:latin typeface="Calibri"/>
              </a:defRPr>
            </a:pPr>
            <a:r>
              <a:t>9%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4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E67E22"/>
                </a:solidFill>
                <a:latin typeface="Calibri"/>
              </a:defRPr>
            </a:pPr>
            <a:r>
              <a:t>25%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8 visits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74C3C"/>
                </a:solidFill>
                <a:latin typeface="Calibri"/>
              </a:defRPr>
            </a:pPr>
            <a:r>
              <a:t>47% readmission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2 — Model Training &amp;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E86C1"/>
                </a:solidFill>
                <a:latin typeface="Calibri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Linear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26517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64.0%</a:t>
            </a:r>
            <a:br/>
            <a:r>
              <a:t>ROC-AUC: 0.642</a:t>
            </a:r>
            <a:br/>
            <a:r>
              <a:t>Recall: 55%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E44AD"/>
                </a:solidFill>
                <a:latin typeface="Calibri"/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Ensemble (Bagging)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926080"/>
            <a:ext cx="2651760" cy="381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88.0%</a:t>
            </a:r>
            <a:br/>
            <a:r>
              <a:t>ROC-AUC: 0.653</a:t>
            </a:r>
            <a:br/>
            <a:r>
              <a:t>Recall: 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28016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5544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7AE60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Ensemble (Boosting)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926080"/>
            <a:ext cx="2651760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Accuracy: 88.6%</a:t>
            </a:r>
            <a:br/>
            <a:r>
              <a:t>ROC-AUC: 0.671</a:t>
            </a:r>
            <a:br/>
            <a:r>
              <a:t>Recall: 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5303520"/>
            <a:ext cx="3749039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5349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⭐  XGBoost Selected — Best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Evaluation — Confusion Matrices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11430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3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Evaluation — ROC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7772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3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06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ROC-AUC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XGBoost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27AE60"/>
                </a:solidFill>
                <a:latin typeface="Calibri"/>
              </a:defRPr>
            </a:pPr>
            <a:r>
              <a:t>0.671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E44AD"/>
                </a:solidFill>
                <a:latin typeface="Calibri"/>
              </a:defRPr>
            </a:pPr>
            <a:r>
              <a:t>Random Forest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8E44AD"/>
                </a:solidFill>
                <a:latin typeface="Calibri"/>
              </a:defRPr>
            </a:pPr>
            <a:r>
              <a:t>0.653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E86C1"/>
                </a:solidFill>
                <a:latin typeface="Calibri"/>
              </a:defRPr>
            </a:pPr>
            <a:r>
              <a:t>Logistic Reg.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4000" b="1">
                <a:solidFill>
                  <a:srgbClr val="2E86C1"/>
                </a:solidFill>
                <a:latin typeface="Calibri"/>
              </a:defRPr>
            </a:pPr>
            <a:r>
              <a:t>0.642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All above 0.5</a:t>
            </a:r>
            <a:br/>
            <a:r>
              <a:t>random baseline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Achievement 3 — Permutation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7772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4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06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47472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Top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#1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number_inpatient</a:t>
            </a:r>
          </a:p>
          <a:p>
            <a:pPr>
              <a:spcBef>
                <a:spcPts val="0"/>
              </a:spcBef>
              <a:spcAft>
                <a:spcPts val="200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(prior hospital visits)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#2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t>discharge_</a:t>
            </a:r>
            <a:br/>
            <a:r>
              <a:t>disposition_id</a:t>
            </a:r>
          </a:p>
          <a:p>
            <a:pPr>
              <a:spcBef>
                <a:spcPts val="0"/>
              </a:spcBef>
              <a:spcAft>
                <a:spcPts val="2000"/>
              </a:spcAft>
              <a:defRPr sz="1800" b="0">
                <a:solidFill>
                  <a:srgbClr val="7F8C8D"/>
                </a:solidFill>
                <a:latin typeface="Calibri"/>
              </a:defRPr>
            </a:pPr>
            <a:r>
              <a:t>(where patient sent)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t>#3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t>number_diagnoses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Threshold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7772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4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0664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0972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109728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BEFORE (t = 0.50)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73736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Recall: 2%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Only 44 of 2,263</a:t>
            </a:r>
            <a:br/>
            <a:r>
              <a:t>readmissions caught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657600"/>
            <a:ext cx="34747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657600"/>
            <a:ext cx="109728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AFTER (t = 0.15)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2976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2800" b="1">
                <a:solidFill>
                  <a:srgbClr val="2C3E50"/>
                </a:solidFill>
                <a:latin typeface="Calibri"/>
              </a:defRPr>
            </a:pPr>
            <a:r>
              <a:t>Recall: 44%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2C3E50"/>
                </a:solidFill>
                <a:latin typeface="Calibri"/>
              </a:defRPr>
            </a:pPr>
            <a:r>
              <a:t>1,004 of 2,263</a:t>
            </a:r>
            <a:br/>
            <a:r>
              <a:t>readmissions caught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AE60"/>
                </a:solidFill>
                <a:latin typeface="Calibri"/>
              </a:defRPr>
            </a:pPr>
            <a:r>
              <a:t>22× improvement!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Biggest Problem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Severe class imbalance (88.6% vs 11.4%) — XGBoost at default threshold</a:t>
            </a:r>
            <a:br/>
            <a:r>
              <a:t>achieves 88.6% accuracy but catches only 2% of actual readmissions.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5394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09728" cy="3108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SOLUTION 1: SMOTE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Oversample minority class on</a:t>
            </a:r>
            <a:br/>
            <a:r>
              <a:t>   training data only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Balanced: 70,421 per class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Test set untouched (no leakage)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834640"/>
            <a:ext cx="5394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834640"/>
            <a:ext cx="109728" cy="3108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SOLUTION 2: Threshold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747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Default 0.50 too conservative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  <a:r>
              <a:t>•  Optimal threshold: 0.15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E86C1"/>
                </a:solidFill>
                <a:latin typeface="Calibri"/>
              </a:defRPr>
            </a:pPr>
            <a:r>
              <a:t>•  Recall: 2% → 44%</a:t>
            </a:r>
            <a:br/>
            <a:r>
              <a:t>   (catches 22× more)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Revised Schedule &amp;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On schedule. No revisions needed. All Week 1-5 milestones completed 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COMPLETED (Weeks 1-5)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✓  Dataset exploration &amp; literature review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✓  Data cleaning, missing values, encoding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✓  Feature engineering &amp; binary target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✓  Model training: LR, RF, XGBoost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C3E50"/>
                </a:solidFill>
                <a:latin typeface="Calibri"/>
              </a:defRPr>
            </a:pPr>
            <a:r>
              <a:t>✓  Evaluation, selection &amp; midterm prep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t>UPCOMING (Weeks 6-12)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○  Hyperparameter tuning &amp; explainability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○  Visualization &amp; Streamlit dashboard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○  Final report (all sections)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03120"/>
            <a:ext cx="39319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103120"/>
            <a:ext cx="393192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26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D4A01E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F8C8D"/>
                </a:solidFill>
                <a:latin typeface="Calibri"/>
              </a:defRPr>
            </a:pPr>
            <a:r>
              <a:t>5 of 12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3017520" cy="36576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4663440"/>
            <a:ext cx="1267358" cy="36576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5212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7AE60"/>
                </a:solidFill>
                <a:latin typeface="Calibri"/>
              </a:defRPr>
            </a:pPr>
            <a:r>
              <a:t>Risk: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F8C8D"/>
                </a:solidFill>
                <a:latin typeface="Calibri"/>
              </a:defRPr>
            </a:pPr>
            <a:r>
              <a:t>No blockers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274320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Project Should 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CS 719  |  Raj Panchal  |  Midterm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09728" cy="2331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E86C1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Strong Foundation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Complete pipeline from 101,766 raw records</a:t>
            </a:r>
            <a:br/>
            <a:r>
              <a:t>to trained, evaluated XGBoost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109728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7AE60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Clear Path to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Remaining work well-defined:</a:t>
            </a:r>
            <a:br/>
            <a:r>
              <a:t>tuning, explainability, dashboard,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09728" cy="2331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67E22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Real-World Clinical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Readmissions cost $26B+. Explainable</a:t>
            </a:r>
            <a:br/>
            <a:r>
              <a:t>predictions enable targeted interventions.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94760"/>
            <a:ext cx="5532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94760"/>
            <a:ext cx="109728" cy="2331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E44AD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On Schedule, No Blockers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6177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All 5 weeks done on time. Class imbalance</a:t>
            </a:r>
            <a:br/>
            <a:r>
              <a:t>solved. On track for April 24 deadline.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635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ECF0F1"/>
                </a:solidFill>
                <a:latin typeface="Calibri"/>
              </a:defRPr>
            </a:pPr>
            <a:r>
              <a:t>Predictive Analytics and Explainable AI</a:t>
            </a:r>
            <a:br/>
            <a:r>
              <a:t>for Hospital Readmission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01E"/>
                </a:solidFill>
                <a:latin typeface="Calibri"/>
              </a:defRPr>
            </a:pPr>
            <a:r>
              <a:t>Midterm Project Review  |  CS 719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CF0F1"/>
                </a:solidFill>
                <a:latin typeface="Calibri"/>
              </a:defRPr>
            </a:pPr>
            <a:r>
              <a:t>Raj Panchal (200490453)  |  March 3,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F8C8D"/>
                </a:solidFill>
                <a:latin typeface="Calibri"/>
              </a:defRPr>
            </a:pPr>
            <a:r>
              <a:t>Instructor: Howard J. Hamilton  |  University of Regina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D4A01E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