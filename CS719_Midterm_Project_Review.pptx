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96D6"/>
                </a:solidFill>
                <a:latin typeface="Calibri"/>
              </a:defRPr>
            </a:pPr>
            <a:r>
              <a:t>MIDTERM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Hospital Readmission Prediction</a:t>
            </a:r>
            <a:br/>
            <a:r>
              <a:t>for Diabetic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E0E0E0"/>
                </a:solidFill>
                <a:latin typeface="Calibri"/>
              </a:defRPr>
            </a:pPr>
            <a:r>
              <a:t>Diabetes 130-US Hospitals  |  Explainable Machine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023360"/>
            <a:ext cx="27432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Raj Panchal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9E9E9E"/>
                </a:solidFill>
                <a:latin typeface="Calibri"/>
              </a:defRPr>
            </a:pPr>
            <a:r>
              <a:t>CS 719  |  March 3,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Goal, Motivation &amp;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2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" y="1170432"/>
            <a:ext cx="11247120" cy="1234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88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96D6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08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 a machine learning system that predicts whether a diabetic patient will be readmitted to the hospital within 30 days of discharge, and explain which clinical factors drive the prediction — enabling hospitals to intervene early and reduce costly readmissions.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96D6"/>
                </a:solidFill>
                <a:latin typeface="Calibri"/>
              </a:defRPr>
            </a:pPr>
            <a:r>
              <a:t>WHY IT MATTERS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" y="2953512"/>
            <a:ext cx="3520440" cy="1554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632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0096D6"/>
                </a:solidFill>
                <a:latin typeface="Calibri"/>
              </a:defRPr>
            </a:pPr>
            <a:r>
              <a:t>$26B+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11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Annual cost of unplanned</a:t>
            </a:r>
            <a:br/>
            <a:r>
              <a:t>hospital readmissions</a:t>
            </a:r>
            <a:br/>
            <a:r>
              <a:t>in the U.S.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2953512"/>
            <a:ext cx="3520440" cy="1554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292608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0632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5722"/>
                </a:solidFill>
                <a:latin typeface="Calibri"/>
              </a:defRPr>
            </a:pPr>
            <a:r>
              <a:t>11.4%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611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Diabetic patients in our</a:t>
            </a:r>
            <a:br/>
            <a:r>
              <a:t>dataset readmitted</a:t>
            </a:r>
            <a:br/>
            <a:r>
              <a:t>within 30 days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74152" y="2953512"/>
            <a:ext cx="3520440" cy="1554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292608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306324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00C853"/>
                </a:solidFill>
                <a:latin typeface="Calibri"/>
              </a:defRPr>
            </a:pPr>
            <a:r>
              <a:t>Preventable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611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Early risk identification</a:t>
            </a:r>
            <a:br/>
            <a:r>
              <a:t>can trigger targeted</a:t>
            </a:r>
            <a:br/>
            <a:r>
              <a:t>interventions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96D6"/>
                </a:solidFill>
                <a:latin typeface="Calibri"/>
              </a:defRPr>
            </a:pPr>
            <a: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" y="5102352"/>
            <a:ext cx="11247120" cy="12801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074920"/>
            <a:ext cx="11247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5212080"/>
            <a:ext cx="411480" cy="41148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1937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Data</a:t>
            </a:r>
            <a:br/>
            <a:r>
              <a:t>Cleaning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2286000" y="5303520"/>
            <a:ext cx="228600" cy="22860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560320" y="5212080"/>
            <a:ext cx="411480" cy="41148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51937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Feature</a:t>
            </a:r>
            <a:br/>
            <a:r>
              <a:t>Engineering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114800" y="5303520"/>
            <a:ext cx="228600" cy="22860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89120" y="5212080"/>
            <a:ext cx="411480" cy="41148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1937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Train 3</a:t>
            </a:r>
            <a:br/>
            <a:r>
              <a:t>Models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943600" y="5303520"/>
            <a:ext cx="228600" cy="22860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217920" y="5212080"/>
            <a:ext cx="411480" cy="41148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1937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Compare &amp;</a:t>
            </a:r>
            <a:br/>
            <a:r>
              <a:t>Select Best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772400" y="5303520"/>
            <a:ext cx="228600" cy="22860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46720" y="5212080"/>
            <a:ext cx="411480" cy="41148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51937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Explain</a:t>
            </a:r>
            <a:br/>
            <a:r>
              <a:t>(PFI + PDP)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9601200" y="5303520"/>
            <a:ext cx="228600" cy="22860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875520" y="5212080"/>
            <a:ext cx="411480" cy="41148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51937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Interactive</a:t>
            </a:r>
            <a:br/>
            <a:r>
              <a:t>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Pictorial Overview — Project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3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606040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96D6"/>
                </a:solidFill>
                <a:latin typeface="Calibri"/>
              </a:defRPr>
            </a:pPr>
            <a:r>
              <a:t>Raw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101,766 records</a:t>
            </a:r>
            <a:br/>
            <a:r>
              <a:t>50 features</a:t>
            </a:r>
            <a:br/>
            <a:r>
              <a:t>130 US hospitals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17520" y="1828800"/>
            <a:ext cx="320040" cy="27432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2344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234440"/>
            <a:ext cx="2606040" cy="54864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3716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6A69A"/>
                </a:solidFill>
                <a:latin typeface="Calibri"/>
              </a:defRPr>
            </a:pPr>
            <a:r>
              <a:t>Data Cleaning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17830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Drop high-null cols</a:t>
            </a:r>
            <a:br/>
            <a:r>
              <a:t>Remove expired rows</a:t>
            </a:r>
            <a:br/>
            <a:r>
              <a:t>99,340 × 42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9320" y="1828800"/>
            <a:ext cx="320040" cy="27432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2344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234440"/>
            <a:ext cx="2606040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3716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42A5F5"/>
                </a:solidFill>
                <a:latin typeface="Calibri"/>
              </a:defRPr>
            </a:pPr>
            <a:r>
              <a:t>Feature</a:t>
            </a:r>
            <a:br/>
            <a: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7830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4 new features</a:t>
            </a:r>
            <a:br/>
            <a:r>
              <a:t>Binary target</a:t>
            </a:r>
            <a:br/>
            <a:r>
              <a:t>99,340 × 23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961120" y="1828800"/>
            <a:ext cx="320040" cy="27432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60" y="12344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1234440"/>
            <a:ext cx="2606040" cy="54864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3716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7B1FA2"/>
                </a:solidFill>
                <a:latin typeface="Calibri"/>
              </a:defRPr>
            </a:pPr>
            <a:r>
              <a:t>Exploratory</a:t>
            </a:r>
            <a:br/>
            <a:r>
              <a:t>Data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7830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Distributions</a:t>
            </a:r>
            <a:br/>
            <a:r>
              <a:t>Correlations</a:t>
            </a:r>
            <a:br/>
            <a:r>
              <a:t>Statistical tests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89320" y="2834640"/>
            <a:ext cx="228600" cy="274320"/>
          </a:xfrm>
          <a:prstGeom prst="down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2918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3291840"/>
            <a:ext cx="2606040" cy="5486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4290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B300"/>
                </a:solidFill>
                <a:latin typeface="Calibri"/>
              </a:defRPr>
            </a:pPr>
            <a:r>
              <a:t>Preprocessing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8404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One-Hot Encode</a:t>
            </a:r>
            <a:br/>
            <a:r>
              <a:t>80/20 split</a:t>
            </a:r>
            <a:br/>
            <a:r>
              <a:t>SMOTE + Scale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017520" y="3886200"/>
            <a:ext cx="320040" cy="27432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37560" y="32918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37560" y="3291840"/>
            <a:ext cx="2606040" cy="5486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34290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5722"/>
                </a:solidFill>
                <a:latin typeface="Calibri"/>
              </a:defRPr>
            </a:pPr>
            <a:r>
              <a:t>Model Training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38404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Logistic Regression</a:t>
            </a:r>
            <a:br/>
            <a:r>
              <a:t>Random Forest</a:t>
            </a:r>
            <a:br/>
            <a:r>
              <a:t>XGBoost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989320" y="3886200"/>
            <a:ext cx="320040" cy="27432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32918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3291840"/>
            <a:ext cx="2606040" cy="54864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34290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E53935"/>
                </a:solidFill>
                <a:latin typeface="Calibri"/>
              </a:defRPr>
            </a:pPr>
            <a:r>
              <a:t>Evaluation &amp;</a:t>
            </a:r>
            <a:br/>
            <a:r>
              <a:t>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38404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ROC-AUC, F1, CV</a:t>
            </a:r>
            <a:br/>
            <a:r>
              <a:t>Confusion matrices</a:t>
            </a:r>
            <a:br/>
            <a:r>
              <a:t>Best: XGBoost</a:t>
            </a:r>
          </a:p>
        </p:txBody>
      </p:sp>
      <p:sp>
        <p:nvSpPr>
          <p:cNvPr id="42" name="Down Arrow 41"/>
          <p:cNvSpPr/>
          <p:nvPr/>
        </p:nvSpPr>
        <p:spPr>
          <a:xfrm>
            <a:off x="5989320" y="4892040"/>
            <a:ext cx="228600" cy="274320"/>
          </a:xfrm>
          <a:prstGeom prst="down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303520"/>
            <a:ext cx="26060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303520"/>
            <a:ext cx="2606040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413248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C853"/>
                </a:solidFill>
                <a:latin typeface="Calibri"/>
              </a:defRPr>
            </a:pPr>
            <a:r>
              <a:t>Explainability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71500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PFI + PDP</a:t>
            </a:r>
            <a:br/>
            <a:r>
              <a:t>on best model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017520" y="5669280"/>
            <a:ext cx="320040" cy="27432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37560" y="5303520"/>
            <a:ext cx="26060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37560" y="5303520"/>
            <a:ext cx="2606040" cy="54864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0" y="5413248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97A7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571500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Streamlit app</a:t>
            </a:r>
            <a:br/>
            <a:r>
              <a:t>what-if analysis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5989320" y="5669280"/>
            <a:ext cx="320040" cy="274320"/>
          </a:xfrm>
          <a:prstGeom prst="rightArrow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09360" y="5303520"/>
            <a:ext cx="26060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09360" y="5303520"/>
            <a:ext cx="2606040" cy="54864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46520" y="5413248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1F3B"/>
                </a:solidFill>
                <a:latin typeface="Calibri"/>
              </a:defRPr>
            </a:pPr>
            <a:r>
              <a:t>Final Report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571500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Complete</a:t>
            </a:r>
            <a:br/>
            <a:r>
              <a:t>write-up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54312" y="3319272"/>
            <a:ext cx="2651760" cy="30632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326880" y="3291840"/>
            <a:ext cx="265176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09760" y="3383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760" y="3794760"/>
            <a:ext cx="2286000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76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C853"/>
                </a:solidFill>
                <a:latin typeface="Calibri"/>
              </a:defRPr>
            </a:pPr>
            <a:r>
              <a:t>Rows 1 &amp; 2: DONE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09760" y="42062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Data pipeline fully</a:t>
            </a:r>
            <a:br/>
            <a:r>
              <a:t>complete. Models</a:t>
            </a:r>
            <a:br/>
            <a:r>
              <a:t>trained &amp; evaluated.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09760" y="4937760"/>
            <a:ext cx="2286000" cy="5486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0976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5722"/>
                </a:solidFill>
                <a:latin typeface="Calibri"/>
              </a:defRPr>
            </a:pPr>
            <a:r>
              <a:t>Row 3: UPCOMING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53492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Explainability, dashboard</a:t>
            </a:r>
            <a:br/>
            <a:r>
              <a:t>&amp; final report in</a:t>
            </a:r>
            <a:br/>
            <a:r>
              <a:t>Weeks 6–12.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Original Project Schedule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4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13385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133856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11338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481328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2704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152704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Jan 27 – Feb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527048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Dataset exploration &amp; literature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15270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C853"/>
                </a:solidFill>
                <a:latin typeface="Calibri"/>
              </a:defRPr>
            </a:pPr>
            <a:r>
              <a:t>✓ Done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65376"/>
            <a:ext cx="1143000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191109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191109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Feb 3 – Feb 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1911096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Data cleaning, missing values, encoding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19110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C853"/>
                </a:solidFill>
                <a:latin typeface="Calibri"/>
              </a:defRPr>
            </a:pPr>
            <a:r>
              <a:t>✓ Done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49424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2951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29514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Feb 10 – Feb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2295144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Feature engineering &amp; binary target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2951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C853"/>
                </a:solidFill>
                <a:latin typeface="Calibri"/>
              </a:defRPr>
            </a:pPr>
            <a:r>
              <a:t>✓ Done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633472"/>
            <a:ext cx="1143000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26791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26791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Feb 17 – Feb 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679192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Model training: LR, RF, XGBoost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6791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C853"/>
                </a:solidFill>
                <a:latin typeface="Calibri"/>
              </a:defRPr>
            </a:pPr>
            <a:r>
              <a:t>✓ Done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017520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06324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06324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Feb 24 – Mar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063240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Evaluation, model selection, midterm prep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0632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C853"/>
                </a:solidFill>
                <a:latin typeface="Calibri"/>
              </a:defRPr>
            </a:pPr>
            <a:r>
              <a:t>✓ Done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401568"/>
            <a:ext cx="11430000" cy="38404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737360" y="34472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5722"/>
                </a:solidFill>
                <a:latin typeface="Calibri"/>
              </a:defRPr>
            </a:pPr>
            <a:r>
              <a:t>Mar 3,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3447288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5722"/>
                </a:solidFill>
                <a:latin typeface="Calibri"/>
              </a:defRPr>
            </a:pPr>
            <a:r>
              <a:t>MILESTONE: Mid-Term Project Review (TODAY)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34472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5722"/>
                </a:solidFill>
                <a:latin typeface="Calibri"/>
              </a:defRPr>
            </a:pPr>
            <a:r>
              <a:t>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785616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383133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83133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Mar 4 – Mar 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3831336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Hyperparameter tuning &amp; cross-validation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383133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Upcoming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169664"/>
            <a:ext cx="1143000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21538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421538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Mar 11 – Mar 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4215384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Explainability: PFI &amp; PDP on final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421538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Upcoming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553712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59943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45994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Mar 18 – Mar 24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4599432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Visualization of predictions &amp; results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459943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Upcoming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937760"/>
            <a:ext cx="1143000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49834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49834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Mar 25 – Mar 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0" y="4983480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Draft report: Intro, Background, Approach, Results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0" y="49834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Upcoming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5321808"/>
            <a:ext cx="11430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53675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53675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Apr 1 – Apr 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0" y="5367528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Write Discussion, Conclusion; add figures &amp; tables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0" y="53675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Upcoming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705856"/>
            <a:ext cx="1143000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575157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Week 11-12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37360" y="575157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Apr 8 – Apr 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0" y="5751576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Review, proofreading &amp; final formatting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75520" y="575157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Upcoming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6089904"/>
            <a:ext cx="11430000" cy="38404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37360" y="613562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5722"/>
                </a:solidFill>
                <a:latin typeface="Calibri"/>
              </a:defRPr>
            </a:pPr>
            <a:r>
              <a:t>Apr 24,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6135624"/>
            <a:ext cx="5943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5722"/>
                </a:solidFill>
                <a:latin typeface="Calibri"/>
              </a:defRPr>
            </a:pPr>
            <a:r>
              <a:t>MILESTONE: Final Project Report Due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613562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5722"/>
                </a:solidFill>
                <a:latin typeface="Calibri"/>
              </a:defRPr>
            </a:pPr>
            <a:r>
              <a:t>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Achievement 1 — Data Preparation &amp; Exploratory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5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  <a:defRPr sz="2000" b="1">
                <a:solidFill>
                  <a:srgbClr val="333333"/>
                </a:solidFill>
                <a:latin typeface="Calibri"/>
              </a:defRPr>
            </a:pPr>
            <a:r>
              <a:t>What Was Done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Cleaned 101,766 records: dropped 4 high-null columns, 2 zero-variance</a:t>
            </a:r>
          </a:p>
          <a:p>
            <a:pPr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   columns, and 2,426 expired/hospice rows  →  99,340 × 42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Engineered 4 new features: total_visits, num_med_changed,</a:t>
            </a:r>
          </a:p>
          <a:p>
            <a:pPr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   num_med_active, age_numeric  —  capturing hospital utilization patterns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Converted target to binary: &lt;30 days = 1 (11.4%), else = 0 (88.6%)</a:t>
            </a:r>
          </a:p>
          <a:p>
            <a:pPr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   21 redundant medication columns summarized and dropped  →  99,340 × 23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Statistical tests: Shapiro-Wilk (non-normal), Chi-squared (diagnosis</a:t>
            </a:r>
          </a:p>
          <a:p>
            <a:pPr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   matters, gender does not), Pearson/Spearman correlations</a:t>
            </a:r>
          </a:p>
        </p:txBody>
      </p:sp>
      <p:pic>
        <p:nvPicPr>
          <p:cNvPr id="9" name="Picture 8" descr="readmission_by_age_in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51560"/>
            <a:ext cx="5669280" cy="17322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84632" y="4142232"/>
            <a:ext cx="11247120" cy="2286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96D6"/>
                </a:solidFill>
                <a:latin typeface="Calibri"/>
              </a:defRPr>
            </a:pPr>
            <a:r>
              <a:t>KEY DISCOVERY FROM EDA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Prior inpatient visits is the strongest</a:t>
            </a:r>
          </a:p>
          <a:p>
            <a:pPr>
              <a:spcBef>
                <a:spcPts val="0"/>
              </a:spcBef>
              <a:spcAft>
                <a:spcPts val="1000"/>
              </a:spcAft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predictor of 30-day readmission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 0 prior visits  →  9% readmission rate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 4 prior visits  →  25% readmission rate</a:t>
            </a:r>
          </a:p>
          <a:p>
            <a:pPr>
              <a:spcBef>
                <a:spcPts val="0"/>
              </a:spcBef>
              <a:spcAft>
                <a:spcPts val="800"/>
              </a:spcAft>
              <a:defRPr sz="1500" b="1">
                <a:solidFill>
                  <a:srgbClr val="E53935"/>
                </a:solidFill>
                <a:latin typeface="Calibri"/>
              </a:defRPr>
            </a:pPr>
            <a:r>
              <a:t>•  8 prior visits  →  47% readmission rate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Near-linear monotonic increase — clinically actionable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5720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Other important EDA findings: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Diagnosis category significantly predicts readmission (p ≈ 0.00)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Gender does NOT predict readmission (p = 0.43)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All numeric features are non-normal → justifies tree-based models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•  Weak feature-target correlations → inherently difficult problem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•  Elderly population (55-85) dominates; most stays 1-6 days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Achievement 2 — Model Training, Evaluation &amp; Selection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6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124712"/>
            <a:ext cx="3566160" cy="2286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3566160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96D6"/>
                </a:solidFill>
                <a:latin typeface="Calibri"/>
              </a:defRPr>
            </a:pPr>
            <a: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Linear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1874519"/>
            <a:ext cx="246888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116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max_iter=1000</a:t>
            </a:r>
            <a:br/>
            <a:r>
              <a:t>solver=lbfgs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0116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Acc: 64.0%</a:t>
            </a:r>
            <a:br/>
            <a:r>
              <a:t>ROC-AUC: 0.642</a:t>
            </a:r>
            <a:br/>
            <a:r>
              <a:t>Recall: 55%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33672" y="1124712"/>
            <a:ext cx="3566160" cy="2286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109728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1097280"/>
            <a:ext cx="3566160" cy="54864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7B1FA2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Ensemble (Bagging)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874519"/>
            <a:ext cx="2468880" cy="254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20116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200 trees</a:t>
            </a:r>
            <a:br/>
            <a:r>
              <a:t>max_depth=15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20116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Acc: 88.0%</a:t>
            </a:r>
            <a:br/>
            <a:r>
              <a:t>ROC-AUC: 0.653</a:t>
            </a:r>
            <a:br/>
            <a:r>
              <a:t>Recall: 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4152" y="1124712"/>
            <a:ext cx="3566160" cy="2286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0" y="109728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097280"/>
            <a:ext cx="3566160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C853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9E9E"/>
                </a:solidFill>
                <a:latin typeface="Calibri"/>
              </a:defRPr>
            </a:pPr>
            <a:r>
              <a:t>Ensemble (Boosting)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1874519"/>
            <a:ext cx="2468880" cy="2540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20116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200 estimators</a:t>
            </a:r>
            <a:br/>
            <a:r>
              <a:t>max_depth=6, lr=0.1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01168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Acc: 88.6%</a:t>
            </a:r>
            <a:br/>
            <a:r>
              <a:t>ROC-AUC: 0.671</a:t>
            </a:r>
            <a:br/>
            <a:r>
              <a:t>Recall: 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1051560"/>
            <a:ext cx="3108960" cy="3200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10515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⭐ SELECTED — Best ROC-AUC</a:t>
            </a:r>
          </a:p>
        </p:txBody>
      </p:sp>
      <p:pic>
        <p:nvPicPr>
          <p:cNvPr id="34" name="Picture 33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474720"/>
            <a:ext cx="7772400" cy="2309616"/>
          </a:xfrm>
          <a:prstGeom prst="rect">
            <a:avLst/>
          </a:prstGeom>
        </p:spPr>
      </p:pic>
      <p:pic>
        <p:nvPicPr>
          <p:cNvPr id="35" name="Picture 34" descr="model_comparison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520440"/>
            <a:ext cx="4389120" cy="216490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393192" y="5696712"/>
            <a:ext cx="11430000" cy="7315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Selection Rationale:  XGBoost has the highest Test ROC-AUC (0.671), highest Average Precision (0.228), and best cross-validation stability (σ = 0.0015).  All three models were validated using 5-fold stratified CV on SMOTE-balanced training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Achievement 3 — Deeper Insights from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7 / 11</a:t>
            </a:r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5029200" cy="3895779"/>
          </a:xfrm>
          <a:prstGeom prst="rect">
            <a:avLst/>
          </a:prstGeom>
        </p:spPr>
      </p:pic>
      <p:pic>
        <p:nvPicPr>
          <p:cNvPr id="9" name="Picture 8" descr="precision_recall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005840"/>
            <a:ext cx="5029200" cy="3895779"/>
          </a:xfrm>
          <a:prstGeom prst="rect">
            <a:avLst/>
          </a:prstGeom>
        </p:spPr>
      </p:pic>
      <p:pic>
        <p:nvPicPr>
          <p:cNvPr id="10" name="Picture 9" descr="cv_box_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05840"/>
            <a:ext cx="3931920" cy="233357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93192" y="4325112"/>
            <a:ext cx="3657600" cy="21031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4297680"/>
            <a:ext cx="36576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96D6"/>
                </a:solidFill>
                <a:latin typeface="Calibri"/>
              </a:defRPr>
            </a:pPr>
            <a:r>
              <a:t>ROC Curves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500" b="1">
                <a:solidFill>
                  <a:srgbClr val="0096D6"/>
                </a:solidFill>
                <a:latin typeface="Calibri"/>
              </a:defRPr>
            </a:pPr>
            <a:r>
              <a:t>XGBoost: 0.671</a:t>
            </a:r>
          </a:p>
          <a:p>
            <a:pPr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RF: 0.653  |  LR: 0.642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All models above random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baseline (0.5). XGBoost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consistently leads.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5112" y="4325112"/>
            <a:ext cx="3657600" cy="21031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4297680"/>
            <a:ext cx="36576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4389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C853"/>
                </a:solidFill>
                <a:latin typeface="Calibri"/>
              </a:defRPr>
            </a:pPr>
            <a:r>
              <a:t>Precision-Recall Curves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70916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500" b="1">
                <a:solidFill>
                  <a:srgbClr val="00C853"/>
                </a:solidFill>
                <a:latin typeface="Calibri"/>
              </a:defRPr>
            </a:pPr>
            <a:r>
              <a:t>XGBoost AP: 0.228</a:t>
            </a:r>
          </a:p>
          <a:p>
            <a:pPr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LR: 0.202  |  RF: 0.199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All above baseline prevalence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(0.114). Steep drop-off confirms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this is a hard task.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7032" y="4325112"/>
            <a:ext cx="3566160" cy="21031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389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7B1FA2"/>
                </a:solidFill>
                <a:latin typeface="Calibri"/>
              </a:defRPr>
            </a:pPr>
            <a:r>
              <a:t>Cross-Validation Stability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7091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500" b="1">
                <a:solidFill>
                  <a:srgbClr val="7B1FA2"/>
                </a:solidFill>
                <a:latin typeface="Calibri"/>
              </a:defRPr>
            </a:pPr>
            <a:r>
              <a:t>RF: 0.960  |  XGB: 0.958</a:t>
            </a:r>
          </a:p>
          <a:p>
            <a:pPr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LR: 0.654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RF and XGBoost both highly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stable (σ = 0.0015). Tree-based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models vastly outperform LR.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Biggest Problem Encountered &amp; How I Am Dealing With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8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" y="1124712"/>
            <a:ext cx="11247120" cy="1234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109728" cy="12344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188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53935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508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Severe class imbalance (88.6% negative vs 11.4% positive) causes high-accuracy models that are clinically useless. At the default threshold of 0.50, XGBoost achieves 88.6% accuracy — but catches only 2% of actual readmissions (44 out of 2,263). A naive model that predicts 'not readmitted' for everyone gets the same accuracy. High accuracy is misleading.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" y="2633472"/>
            <a:ext cx="5394960" cy="2560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606040"/>
            <a:ext cx="109728" cy="25603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97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C853"/>
                </a:solidFill>
                <a:latin typeface="Calibri"/>
              </a:defRPr>
            </a:pPr>
            <a:r>
              <a:t>SOLUTION 1:  SMOTE (Synthetic Minority Oversampling)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Applied SMOTE on training data only (no data leakage)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Balanced classes: 70,421 per class (from 9,051 vs 70,421)</a:t>
            </a:r>
          </a:p>
          <a:p>
            <a:pPr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Test set remains untouched — evaluation is on real data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0096D6"/>
                </a:solidFill>
                <a:latin typeface="Calibri"/>
              </a:defRPr>
            </a:pPr>
            <a:r>
              <a:t>Result: Models learn meaningful patterns from both classes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instead of defaulting to the majority class.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36792" y="2633472"/>
            <a:ext cx="5394960" cy="2560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6060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606040"/>
            <a:ext cx="109728" cy="25603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C853"/>
                </a:solidFill>
                <a:latin typeface="Calibri"/>
              </a:defRPr>
            </a:pPr>
            <a:r>
              <a:t>SOLUTION 2:  Classification Threshold 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06324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Default threshold 0.50 is far too conservative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Swept thresholds from 0.05 to 0.95</a:t>
            </a:r>
          </a:p>
          <a:p>
            <a:pPr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 Optimal threshold: 0.15 (maximizes F1 score)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0096D6"/>
                </a:solidFill>
                <a:latin typeface="Calibri"/>
              </a:defRPr>
            </a:pPr>
            <a:r>
              <a:t>Result: Recall jumps from 2% to 44%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(catches 22× more readmissions at cost of some false alarms)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" y="5468112"/>
            <a:ext cx="5394960" cy="8686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440680"/>
            <a:ext cx="5394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  (threshold = 0.50)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806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Accuracy: 88.6%   |   Recall: 2%   |   True positives: 44 / 2,263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36792" y="5468112"/>
            <a:ext cx="5394960" cy="8686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5440680"/>
            <a:ext cx="5394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486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C853"/>
                </a:solidFill>
                <a:latin typeface="Calibri"/>
              </a:defRPr>
            </a:pPr>
            <a:r>
              <a:t>AFTER  (threshold = 0.15)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806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Accuracy: 74.0%   |   Recall: 44%   |   True positives: 1,004 / 2,263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Revised Schedule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9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C853"/>
                </a:solidFill>
                <a:latin typeface="Calibri"/>
              </a:defRPr>
            </a:pPr>
            <a:r>
              <a:t>The project is on schedule. No revisions needed. All Week 1–5 milestones completed on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C853"/>
                </a:solidFill>
                <a:latin typeface="Calibri"/>
              </a:defRPr>
            </a:pPr>
            <a:r>
              <a:t>COMPLETED  (Weeks 1–5)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C85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57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057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Dataset exploration &amp; literature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C85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4144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4414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Data cleaning, missing values,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2549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C85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2549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8254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Feature engineering &amp; binary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0954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C85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0954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2095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Model training: LR, RF, XGBoost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935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C85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59359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Week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5935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Evaluation, selection &amp; midterm prep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3192" y="4050792"/>
            <a:ext cx="5943600" cy="457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023360"/>
            <a:ext cx="5943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069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5722"/>
                </a:solidFill>
                <a:latin typeface="Calibri"/>
              </a:defRPr>
            </a:pPr>
            <a:r>
              <a:t>★  Mid-Term Project Review  —  March 3, 2026  (TODAY)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96D6"/>
                </a:solidFill>
                <a:latin typeface="Calibri"/>
              </a:defRPr>
            </a:pPr>
            <a:r>
              <a:t>UPCOMING  (Weeks 6–12)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0749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0749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Week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Hyperparameter tuning &amp; cross-validation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4223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Week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54223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Explainability: PFI &amp; PDP on 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76986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76986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Week 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576986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Visualization of predictions &amp; results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11733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11733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Wk 9–10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611733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Draft &amp; write final report sections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6480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646480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Calibri"/>
              </a:defRPr>
            </a:pPr>
            <a:r>
              <a:t>Wk 11–12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0" y="64648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Review, proofreading &amp; submission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3192" y="6428232"/>
            <a:ext cx="5943600" cy="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6400800"/>
            <a:ext cx="5943600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85432" y="1673352"/>
            <a:ext cx="4846320" cy="48463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0" y="1645920"/>
            <a:ext cx="48463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17830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96D6"/>
                </a:solidFill>
                <a:latin typeface="Calibri"/>
              </a:defRPr>
            </a:pPr>
            <a:r>
              <a:t>PROGRESS OVERVIEW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22402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0096D6"/>
                </a:solidFill>
                <a:latin typeface="Calibr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06324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5 of 12 weeks complete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06640" y="3520440"/>
            <a:ext cx="3749039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3520440"/>
            <a:ext cx="1574596" cy="2743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2320" y="402336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  <a:defRPr sz="1500" b="1">
                <a:solidFill>
                  <a:srgbClr val="333333"/>
                </a:solidFill>
                <a:latin typeface="Calibri"/>
              </a:defRPr>
            </a:pPr>
            <a:r>
              <a:t>What Remains: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 Hyperparameter tuning of XGBoost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 Full PFI + PDP explainability analysis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 Streamlit interactive dashboard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 Prediction visualization &amp; tables</a:t>
            </a:r>
          </a:p>
          <a:p>
            <a:pPr>
              <a:spcBef>
                <a:spcPts val="0"/>
              </a:spcBef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 Complete final report (all sections)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400" b="1">
                <a:solidFill>
                  <a:srgbClr val="00C853"/>
                </a:solidFill>
                <a:latin typeface="Calibri"/>
              </a:defRPr>
            </a:pPr>
            <a:r>
              <a:t>Risk assessment: LOW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E9E9E"/>
                </a:solidFill>
                <a:latin typeface="Calibri"/>
              </a:defRPr>
            </a:pPr>
            <a:r>
              <a:t>No blockers. Clear path forward.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This Project Should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41248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10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170432"/>
            <a:ext cx="5532120" cy="23317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5321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109728" cy="233172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96D6"/>
                </a:solidFill>
                <a:latin typeface="Calibri"/>
              </a:defRPr>
            </a:pPr>
            <a:r>
              <a:t>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3075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333333"/>
                </a:solidFill>
                <a:latin typeface="Calibri"/>
              </a:defRPr>
            </a:pPr>
            <a:r>
              <a:t>Strong Foundation 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73736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The entire data pipeline is complete — from raw data (101,766 records) through cleaning, feature engineering, EDA, statistical validation, and preprocessing. Three models have been trained, evaluated with multiple metrics, and the best model (XGBoost, ROC-AUC = 0.671) has been selected. This represents a solid, reproducible foundation.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170432"/>
            <a:ext cx="5532120" cy="23317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143000"/>
            <a:ext cx="55321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143000"/>
            <a:ext cx="109728" cy="2331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C853"/>
                </a:solidFill>
                <a:latin typeface="Calibri"/>
              </a:defRPr>
            </a:pPr>
            <a:r>
              <a:t>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3075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333333"/>
                </a:solidFill>
                <a:latin typeface="Calibri"/>
              </a:defRPr>
            </a:pPr>
            <a:r>
              <a:t>Clear Path to Completion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The remaining work is well-defined: hyperparameter tuning (Week 6), explainability analysis with PFI and PDP (Week 7), visualization (Week 8), and report writing (Weeks 9–12). The Streamlit dashboard framework is already built — it just needs the tuned model artifacts. No unknowns remain.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3776472"/>
            <a:ext cx="5532120" cy="23317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749040"/>
            <a:ext cx="55321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749040"/>
            <a:ext cx="109728" cy="233172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886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5722"/>
                </a:solidFill>
                <a:latin typeface="Calibri"/>
              </a:defRPr>
            </a:pPr>
            <a:r>
              <a:t>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913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333333"/>
                </a:solidFill>
                <a:latin typeface="Calibri"/>
              </a:defRPr>
            </a:pPr>
            <a:r>
              <a:t>Real-World Clinical 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4340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Hospital readmissions cost $26B+ annually. This project delivers an explainable prediction tool — not just a black-box model. Clinicians will understand why a patient is flagged as high-risk (e.g., prior inpatient visits, discharge destination), enabling informed, targeted interventions.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776472"/>
            <a:ext cx="5532120" cy="23317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749040"/>
            <a:ext cx="55321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749040"/>
            <a:ext cx="109728" cy="23317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886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7B1FA2"/>
                </a:solidFill>
                <a:latin typeface="Calibri"/>
              </a:defRPr>
            </a:pPr>
            <a:r>
              <a:t>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9136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333333"/>
                </a:solidFill>
                <a:latin typeface="Calibri"/>
              </a:defRPr>
            </a:pPr>
            <a:r>
              <a:t>On Schedule, No Blockers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34340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E9E9E"/>
                </a:solidFill>
                <a:latin typeface="Calibri"/>
              </a:defRPr>
            </a:pPr>
            <a:r>
              <a:t>All 5 weeks of the original schedule completed on time. The biggest technical challenge (class imbalance) has been identified and addressed with SMOTE + threshold optimization. There are no outstanding risks or dependencies. The project is fully on track for the April 24 deadline.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" y="6382512"/>
            <a:ext cx="11430000" cy="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6355080"/>
            <a:ext cx="11430000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834640"/>
            <a:ext cx="210312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E0E0E0"/>
                </a:solidFill>
                <a:latin typeface="Calibri"/>
              </a:defRPr>
            </a:pPr>
            <a:r>
              <a:t>Hospital Readmission Prediction for Diabetic Patients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9E9E9E"/>
                </a:solidFill>
                <a:latin typeface="Calibri"/>
              </a:defRPr>
            </a:pPr>
            <a:r>
              <a:t>Raj Panchal  |  CS 719  |  March 3,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8463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29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E9E9E"/>
                </a:solidFill>
                <a:latin typeface="Calibri"/>
              </a:defRPr>
            </a:pPr>
            <a:r>
              <a:t>CS 719  |  Midterm Project Review  |  Raj Panchal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629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E0E0E0"/>
                </a:solidFill>
                <a:latin typeface="Calibri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