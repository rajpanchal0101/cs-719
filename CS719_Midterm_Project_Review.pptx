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96D6"/>
                </a:solidFill>
                <a:latin typeface="Calibri"/>
              </a:defRPr>
            </a:pPr>
            <a:r>
              <a:t>CS 719 — MIDTERM PROJECT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Calibri"/>
              </a:defRPr>
            </a:pPr>
            <a:r>
              <a:t>Hospital Readmission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E0E0E0"/>
                </a:solidFill>
                <a:latin typeface="Calibri"/>
              </a:defRPr>
            </a:pPr>
            <a:r>
              <a:t>Diabetes 130-US Hospitals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931920"/>
            <a:ext cx="274320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E9E9E"/>
                </a:solidFill>
                <a:latin typeface="Calibri"/>
              </a:defRPr>
            </a:pPr>
            <a:r>
              <a:t>Predicting 30-day hospital readmission using explainable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Raj Panchal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15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E9E9E"/>
                </a:solidFill>
                <a:latin typeface="Calibri"/>
              </a:defRPr>
            </a:pPr>
            <a:r>
              <a:t>March 3,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1 / 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629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9E9E"/>
                </a:solidFill>
                <a:latin typeface="Calibri"/>
              </a:defRPr>
            </a:pPr>
            <a:r>
              <a:t>CS 719 — Midterm Project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22860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2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9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9E9E"/>
                </a:solidFill>
                <a:latin typeface="Calibri"/>
              </a:defRPr>
            </a:pPr>
            <a:r>
              <a:t>CS 719 — Midterm Project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96D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325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Project Objective &amp; Motivation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755648"/>
            <a:ext cx="48463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96D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325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Dataset Overview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755648"/>
            <a:ext cx="48463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96D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Data Cleaning &amp; Feature Engineering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715768"/>
            <a:ext cx="48463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96D6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Exploratory Data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715768"/>
            <a:ext cx="48463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96D6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246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Statistical Tests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75888"/>
            <a:ext cx="48463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96D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246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Preprocessing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675888"/>
            <a:ext cx="48463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60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96D6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Model Training &amp; Evaluation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636008"/>
            <a:ext cx="48463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160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96D6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Model Comparison &amp; Selection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636008"/>
            <a:ext cx="48463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120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96D6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166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596128"/>
            <a:ext cx="48463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5120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96D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5166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Timeline &amp; Next Steps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5596128"/>
            <a:ext cx="48463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Objective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22860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3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9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9E9E"/>
                </a:solidFill>
                <a:latin typeface="Calibri"/>
              </a:defRPr>
            </a:pPr>
            <a:r>
              <a:t>CS 719 — Midterm Project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" y="1216152"/>
            <a:ext cx="11247120" cy="12801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1247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80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96D6"/>
                </a:solidFill>
                <a:latin typeface="Calibri"/>
              </a:defRPr>
            </a:pPr>
            <a: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Calibri"/>
              </a:defRPr>
            </a:pPr>
            <a:r>
              <a:t>Predict whether a diabetic patient will be readmitted to the hospital within 30 days of discharge, using explainable machine learning models that provide clinical interpretability.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Calibri"/>
              </a:defRPr>
            </a:pPr>
            <a:r>
              <a:t>Why Does This Matter?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3410712"/>
            <a:ext cx="3383280" cy="20116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38328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96D6"/>
                </a:solidFill>
                <a:latin typeface="Calibri"/>
              </a:defRPr>
            </a:pPr>
            <a:r>
              <a:t>$26 Billion+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805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Annual cost of unplanned hospital</a:t>
            </a:r>
            <a:br/>
            <a:r>
              <a:t>readmissions in the U.S.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7991" y="3410712"/>
            <a:ext cx="3383280" cy="20116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59" y="338328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36576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96D6"/>
                </a:solidFill>
                <a:latin typeface="Calibri"/>
              </a:defRPr>
            </a:pPr>
            <a:r>
              <a:t>11.4%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44805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Diabetic patients readmitted</a:t>
            </a:r>
            <a:br/>
            <a:r>
              <a:t>within 30 days in our dataset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57030" y="3410712"/>
            <a:ext cx="3383280" cy="20116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598" y="3383280"/>
            <a:ext cx="33832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18" y="36576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96D6"/>
                </a:solidFill>
                <a:latin typeface="Calibri"/>
              </a:defRPr>
            </a:pPr>
            <a:r>
              <a:t>Preventable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8" y="44805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Early identification enables</a:t>
            </a:r>
            <a:br/>
            <a:r>
              <a:t>targeted interventions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9E9E9E"/>
                </a:solidFill>
                <a:latin typeface="Calibri"/>
              </a:defRPr>
            </a:pPr>
            <a:r>
              <a:t>Approach:  Train LR, RF &amp; XGBoost  →  Compare  →  Select best  →  Explain with PFI &amp; PDP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22860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4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9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9E9E"/>
                </a:solidFill>
                <a:latin typeface="Calibri"/>
              </a:defRPr>
            </a:pPr>
            <a:r>
              <a:t>CS 719 — Midterm Project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1216152"/>
            <a:ext cx="2606040" cy="1371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96D6"/>
                </a:solidFill>
                <a:latin typeface="Calibri"/>
              </a:defRPr>
            </a:pPr>
            <a:r>
              <a:t>101,766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Patient Encounters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6432" y="1216152"/>
            <a:ext cx="2606040" cy="1371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18872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32588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96D6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19659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Original 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6792" y="1216152"/>
            <a:ext cx="2606040" cy="1371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18872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32588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96D6"/>
                </a:solidFill>
                <a:latin typeface="Calibri"/>
              </a:defRPr>
            </a:pPr>
            <a:r>
              <a:t>130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659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US Hospitals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17152" y="1216152"/>
            <a:ext cx="2606040" cy="1371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118872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325880"/>
            <a:ext cx="2240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96D6"/>
                </a:solidFill>
                <a:latin typeface="Calibri"/>
              </a:defRPr>
            </a:pPr>
            <a:r>
              <a:t>10 Years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196596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of Clinical Data</a:t>
            </a:r>
            <a:br/>
            <a:r>
              <a:t>(1999–2008)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Calibri"/>
              </a:defRPr>
            </a:pPr>
            <a:r>
              <a:t>Feature Categories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•  Demographics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9E9E9E"/>
                </a:solidFill>
                <a:latin typeface="Calibri"/>
              </a:defRPr>
            </a:pPr>
            <a:r>
              <a:t>Race, Gender, 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9502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•  Admission Info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9502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9E9E9E"/>
                </a:solidFill>
                <a:latin typeface="Calibri"/>
              </a:defRPr>
            </a:pPr>
            <a:r>
              <a:t>Admission type, Discharge disposition,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1713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•  Clinical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51713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9E9E9E"/>
                </a:solidFill>
                <a:latin typeface="Calibri"/>
              </a:defRPr>
            </a:pPr>
            <a:r>
              <a:t>Time in hospital, Lab procedures, Medications, Diagnoses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08406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•  Medication Details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508406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9E9E9E"/>
                </a:solidFill>
                <a:latin typeface="Calibri"/>
              </a:defRPr>
            </a:pPr>
            <a:r>
              <a:t>21 individual drug columns (e.g., insulin, metformin)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509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•  Target Variable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56509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9E9E9E"/>
                </a:solidFill>
                <a:latin typeface="Calibri"/>
              </a:defRPr>
            </a:pPr>
            <a:r>
              <a:t>readmitted  —  NO (53.9%)  |  &gt;30 days (34.9%)  |  &lt;30 days (11.2%)</a:t>
            </a:r>
          </a:p>
        </p:txBody>
      </p:sp>
      <p:pic>
        <p:nvPicPr>
          <p:cNvPr id="35" name="Picture 34" descr="target_distribution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291840"/>
            <a:ext cx="3931920" cy="24273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Data Preparation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91840"/>
            <a:ext cx="21031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5661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Cleaning, Engineering &amp; Preprocessing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5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9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9E9E"/>
                </a:solidFill>
                <a:latin typeface="Calibri"/>
              </a:defRPr>
            </a:pPr>
            <a:r>
              <a:t>CS 719 — Midterm Project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Cleaning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22860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6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9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9E9E"/>
                </a:solidFill>
                <a:latin typeface="Calibri"/>
              </a:defRPr>
            </a:pPr>
            <a:r>
              <a:t>CS 719 — Midterm Project Review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Dropped High-Null Columns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00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weight (97%), medical_specialty, max_glu_serum (95%), A1Cresult (83%)  —  4 columns removed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Removed Zero-Variance 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34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examide and citoglipton had only one unique value  —  2 columns removed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703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Filtered Expired / Hospice Patients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069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Removed 2,426 rows where patients expired or were transferred to hospice  —  not relevant for readmission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983480"/>
            <a:ext cx="457200" cy="4572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Result After Cleaning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303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99,340 rows  ×  42 columns  (from original 101,766 × 50)</a:t>
            </a:r>
          </a:p>
        </p:txBody>
      </p:sp>
      <p:pic>
        <p:nvPicPr>
          <p:cNvPr id="20" name="Picture 19" descr="missing_value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188720"/>
            <a:ext cx="4389120" cy="21497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0" y="45720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E9E9E"/>
                </a:solidFill>
                <a:latin typeface="Calibri"/>
              </a:defRPr>
            </a:pPr>
            <a:r>
              <a:t>Remaining nulls handled via encoding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22860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7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9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9E9E"/>
                </a:solidFill>
                <a:latin typeface="Calibri"/>
              </a:defRPr>
            </a:pPr>
            <a:r>
              <a:t>CS 719 — Midterm Project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Calibri"/>
              </a:defRPr>
            </a:pPr>
            <a:r>
              <a:t>4 New Features Created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1764792"/>
            <a:ext cx="10972800" cy="8229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10972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96D6"/>
                </a:solidFill>
                <a:latin typeface="Calibri"/>
              </a:defRPr>
            </a:pPr>
            <a:r>
              <a:t>total_visits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Sum of outpatient + emergency + inpatient visits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8288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Captures overall hospital utilization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2770632"/>
            <a:ext cx="10972800" cy="8229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743200"/>
            <a:ext cx="10972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96D6"/>
                </a:solidFill>
                <a:latin typeface="Calibri"/>
              </a:defRPr>
            </a:pPr>
            <a:r>
              <a:t>num_med_changed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834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Count of medications with dosage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8346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Reflects treatment instability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" y="3776472"/>
            <a:ext cx="10972800" cy="8229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749040"/>
            <a:ext cx="10972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96D6"/>
                </a:solidFill>
                <a:latin typeface="Calibri"/>
              </a:defRPr>
            </a:pPr>
            <a:r>
              <a:t>num_med_active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840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Count of actively prescribed medications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8404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Measures medication burden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" y="4782312"/>
            <a:ext cx="10972800" cy="8229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754880"/>
            <a:ext cx="10972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96D6"/>
                </a:solidFill>
                <a:latin typeface="Calibri"/>
              </a:defRPr>
            </a:pPr>
            <a:r>
              <a:t>age_numeric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Midpoint of age bracket (e.g., [60-70) → 65)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846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Enables numeric analysis of 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Calibri"/>
              </a:defRPr>
            </a:pPr>
            <a:r>
              <a:t>Binary Target Conversion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" y="5925312"/>
            <a:ext cx="10972800" cy="5029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897880"/>
            <a:ext cx="10972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readmitted:   &lt;30 days → 1 (Positive, 11.4%)    |    NO / &gt;30 days → 0 (Negative, 88.6%)    —    23 redundant columns dropped → Final: 99,340 ×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Exploratory Data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91840"/>
            <a:ext cx="21031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5661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Understanding patterns in 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8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9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9E9E"/>
                </a:solidFill>
                <a:latin typeface="Calibri"/>
              </a:defRPr>
            </a:pPr>
            <a:r>
              <a:t>CS 719 — Midterm Project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 Imbalance &amp; Feature Distributions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22860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9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9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9E9E"/>
                </a:solidFill>
                <a:latin typeface="Calibri"/>
              </a:defRPr>
            </a:pPr>
            <a:r>
              <a:t>CS 719 — Midterm Project Review</a:t>
            </a:r>
          </a:p>
        </p:txBody>
      </p:sp>
      <p:pic>
        <p:nvPicPr>
          <p:cNvPr id="8" name="Picture 7" descr="binary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029200" cy="3104761"/>
          </a:xfrm>
          <a:prstGeom prst="rect">
            <a:avLst/>
          </a:prstGeom>
        </p:spPr>
      </p:pic>
      <p:pic>
        <p:nvPicPr>
          <p:cNvPr id="9" name="Picture 8" descr="numeric_feature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097280"/>
            <a:ext cx="6217920" cy="46477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0292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Key Observations: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Severe class imbalance: 88.6% vs 11.4%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Most features are right-skewed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Requires SMOTE to balance training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502920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Distribution Highlights: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Most stays: 1-6 days  |  Lab procedures centered ~40-50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Elderly population dominant (age 55-85)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total_visits extremely right-skewed (most = 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Correlation Matrix &amp; Categorical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22860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10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9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9E9E"/>
                </a:solidFill>
                <a:latin typeface="Calibri"/>
              </a:defRPr>
            </a:pPr>
            <a:r>
              <a:t>CS 719 — Midterm Project Review</a:t>
            </a:r>
          </a:p>
        </p:txBody>
      </p:sp>
      <p:pic>
        <p:nvPicPr>
          <p:cNvPr id="8" name="Picture 7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303520" cy="4688826"/>
          </a:xfrm>
          <a:prstGeom prst="rect">
            <a:avLst/>
          </a:prstGeom>
        </p:spPr>
      </p:pic>
      <p:pic>
        <p:nvPicPr>
          <p:cNvPr id="9" name="Picture 8" descr="categorical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051560"/>
            <a:ext cx="6126480" cy="3041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2120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Correlation Insights: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Strongest: num_medications ↔ time_in_hospital (~0.4)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Target 'readmitted' has weak correlations with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    all features — confirms this is a hard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5212080"/>
            <a:ext cx="5760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Categorical Insights: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Race: Caucasian dominant (~75%)  |  Gender: nearly balanced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Primary diagnosis: Circulatory diseases #1, then Other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Diabetes appears more as secondary/tertiary diagnosis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Discovery: Readmission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22860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11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9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9E9E"/>
                </a:solidFill>
                <a:latin typeface="Calibri"/>
              </a:defRPr>
            </a:pPr>
            <a:r>
              <a:t>CS 719 — Midterm Project Review</a:t>
            </a:r>
          </a:p>
        </p:txBody>
      </p:sp>
      <p:pic>
        <p:nvPicPr>
          <p:cNvPr id="8" name="Picture 7" descr="readmission_by_age_inpat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12880" cy="35483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84632" y="4233672"/>
            <a:ext cx="5303520" cy="2103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206240"/>
            <a:ext cx="5303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Readmission Rate by 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091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•  Peaks at age 25 (~14.3%) — surprisingly high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•  Plateaus at ~10-12% for ages 35-95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•  Very young patients (5-15) have lowest rates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•  Age alone is not a strong discriminator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4233672"/>
            <a:ext cx="5486400" cy="2103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420624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Readmission Rate by Prior Inpatient Visits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091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96D6"/>
                </a:solidFill>
                <a:latin typeface="Calibri"/>
              </a:defRPr>
            </a:pPr>
            <a:r>
              <a:t>•  STRONGEST signal: 0 visits = 9% → 8 visits = 47%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•  Near-linear monotonic increase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•  Prior hospitalization is the #1 predictor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•  Confirmed later by PFI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Statistical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22860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12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9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9E9E"/>
                </a:solidFill>
                <a:latin typeface="Calibri"/>
              </a:defRPr>
            </a:pPr>
            <a:r>
              <a:t>CS 719 — Midterm Project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Calibri"/>
              </a:defRPr>
            </a:pPr>
            <a:r>
              <a:t>Normality Tests (Shapiro-Wilk)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7772400" cy="36576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19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190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Statistic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7190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p-value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719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03120"/>
            <a:ext cx="7772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1305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time_in_hospital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1305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W = 0.886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1305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p ≈ 0.000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305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5722"/>
                </a:solidFill>
                <a:latin typeface="Calibri"/>
              </a:defRPr>
            </a:pPr>
            <a:r>
              <a:t>Not Normal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468880"/>
            <a:ext cx="777240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496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num_lab_procedures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4963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W = 0.984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4963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p ≈ 0.000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4963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5722"/>
                </a:solidFill>
                <a:latin typeface="Calibri"/>
              </a:defRPr>
            </a:pPr>
            <a:r>
              <a:t>Not Normal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834640"/>
            <a:ext cx="7772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862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num_medications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28620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W = 0.926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8620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p ≈ 0.000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5722"/>
                </a:solidFill>
                <a:latin typeface="Calibri"/>
              </a:defRPr>
            </a:pPr>
            <a:r>
              <a:t>Not Normal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Calibri"/>
              </a:defRPr>
            </a:pPr>
            <a:r>
              <a:t>Correlation Test (num_medications vs num_lab_procedures)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Pearson r = 0.265,  p ≈ 0.000   |   Spearman r = 0.248,  p ≈ 0.000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Weak but statistically significant positive correlation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Calibri"/>
              </a:defRPr>
            </a:pPr>
            <a:r>
              <a:t>Chi-Squared Independence Tests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" y="5239512"/>
            <a:ext cx="7772400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212080"/>
            <a:ext cx="7772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2760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diag_1 vs readmitted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5276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χ² = 81.96, p ≈ 0.000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2760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C853"/>
                </a:solidFill>
                <a:latin typeface="Calibri"/>
              </a:defRPr>
            </a:pPr>
            <a:r>
              <a:t>Dependent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" y="5788152"/>
            <a:ext cx="7772400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5760720"/>
            <a:ext cx="7772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8247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gender vs readmitted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39" y="5824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χ² = 0.63,  p = 0.428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58247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5722"/>
                </a:solidFill>
                <a:latin typeface="Calibri"/>
              </a:defRPr>
            </a:pPr>
            <a:r>
              <a:t>Independent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14232" y="1216152"/>
            <a:ext cx="310896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86800" y="1188720"/>
            <a:ext cx="31089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968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96D6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182880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1. All numeric features are non-normal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200" b="0">
                <a:solidFill>
                  <a:srgbClr val="9E9E9E"/>
                </a:solidFill>
                <a:latin typeface="Calibri"/>
              </a:defRPr>
            </a:pPr>
            <a:r>
              <a:t>→ Justifies using tree-based models over parametric methods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2. Diagnosis category predicts readmission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200" b="0">
                <a:solidFill>
                  <a:srgbClr val="9E9E9E"/>
                </a:solidFill>
                <a:latin typeface="Calibri"/>
              </a:defRPr>
            </a:pPr>
            <a:r>
              <a:t>→ diag_1 is statistically dependent on the target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3. Gender does NOT predict readmission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defRPr sz="1200" b="0">
                <a:solidFill>
                  <a:srgbClr val="9E9E9E"/>
                </a:solidFill>
                <a:latin typeface="Calibri"/>
              </a:defRPr>
            </a:pPr>
            <a:r>
              <a:t>→ p = 0.43, no significant relationship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4. Weak feature-target correlations overall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9E9E9E"/>
                </a:solidFill>
                <a:latin typeface="Calibri"/>
              </a:defRPr>
            </a:pPr>
            <a:r>
              <a:t>→ This is an inherently difficult prediction task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Preprocessing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22860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13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9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9E9E"/>
                </a:solidFill>
                <a:latin typeface="Calibri"/>
              </a:defRPr>
            </a:pPr>
            <a:r>
              <a:t>CS 719 — Midterm Project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" y="1399032"/>
            <a:ext cx="2560320" cy="2286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17320" y="1188720"/>
            <a:ext cx="457200" cy="4572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One-Hot Encoding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Categorical → binary dummies</a:t>
            </a:r>
            <a:br/>
            <a:r>
              <a:t>46 final features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63240" y="2286000"/>
            <a:ext cx="274320" cy="320040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10712" y="1399032"/>
            <a:ext cx="2560320" cy="2286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13716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43400" y="1188720"/>
            <a:ext cx="457200" cy="4572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828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Stratified 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377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80% Train / 20% Test</a:t>
            </a:r>
            <a:br/>
            <a:r>
              <a:t>Preserves 11.4% positive rate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89320" y="2286000"/>
            <a:ext cx="274320" cy="320040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36792" y="1399032"/>
            <a:ext cx="2560320" cy="2286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69480" y="1188720"/>
            <a:ext cx="457200" cy="4572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828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SMOTE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77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Training set only</a:t>
            </a:r>
            <a:br/>
            <a:r>
              <a:t>70,421 per class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915400" y="2286000"/>
            <a:ext cx="274320" cy="320040"/>
          </a:xfrm>
          <a:prstGeom prst="rightArrow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62872" y="1399032"/>
            <a:ext cx="2560320" cy="2286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13716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95560" y="1188720"/>
            <a:ext cx="457200" cy="45720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1828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StandardScaler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377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Zero mean, unit variance</a:t>
            </a:r>
            <a:br/>
            <a:r>
              <a:t>Fitted on train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" y="4142232"/>
            <a:ext cx="11247120" cy="2103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114800"/>
            <a:ext cx="112471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Data Split Summary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Before SMOTE: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9834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Train: 79,472 (70,421 neg / 9,051 pos)  |  Test: 19,868 (17,605 neg / 2,263 pos)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440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After SMOTE (training set only):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Train: 140,842 (70,421 per class — perfectly balanced)  |  Test: 19,868 (unchanged — no data leakage)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Model Training &amp;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291840"/>
            <a:ext cx="21031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5661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Logistic Regression  |  Random Forest  |  XGBoost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14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9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9E9E"/>
                </a:solidFill>
                <a:latin typeface="Calibri"/>
              </a:defRPr>
            </a:pPr>
            <a:r>
              <a:t>CS 719 — Midterm Project 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Model Training — Three Classifiers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22860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15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9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9E9E"/>
                </a:solidFill>
                <a:latin typeface="Calibri"/>
              </a:defRPr>
            </a:pPr>
            <a:r>
              <a:t>CS 719 — Midterm Project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" y="1307592"/>
            <a:ext cx="3566160" cy="4572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96D6"/>
                </a:solidFill>
                <a:latin typeface="Calibri"/>
              </a:defRPr>
            </a:pPr>
            <a:r>
              <a:t>Logistic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Linear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2331720"/>
            <a:ext cx="210312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Hyperparameters: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max_iter = 1,000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solver = lbfgs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random_state = 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Role: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Simple, interpretable, fast. Serves as the baseline to beat.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307592"/>
            <a:ext cx="3566160" cy="4572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28016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96D6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920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Ensemble — Bagging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2331720"/>
            <a:ext cx="210312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2560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Hyperparameters: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n_estimators = 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max_depth =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min_samples_split =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023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Role: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3434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Reduces variance through bootstrapped decision trees.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65592" y="1307592"/>
            <a:ext cx="3566160" cy="4572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128016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1463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96D6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1920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Ensemble — Boosting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2331720"/>
            <a:ext cx="2103120" cy="25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2560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Hyperparameters: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n_estimators = 200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max_depth =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learning_rate = 0.1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023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Role: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3434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Sequential correction of errors; typically best for tabular data.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All models trained on the same SMOTE-balanced training data (140,842 samples) and evaluated on the original test set (19,868 samples).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Model Evaluation — Confusion Matrices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22860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16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9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9E9E"/>
                </a:solidFill>
                <a:latin typeface="Calibri"/>
              </a:defRPr>
            </a:pPr>
            <a:r>
              <a:t>CS 719 — Midterm Project Review</a:t>
            </a:r>
          </a:p>
        </p:txBody>
      </p:sp>
      <p:pic>
        <p:nvPicPr>
          <p:cNvPr id="8" name="Picture 7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12880" cy="345083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93192" y="3867912"/>
            <a:ext cx="3657600" cy="2560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84048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96D6"/>
                </a:solidFill>
                <a:latin typeface="Calibri"/>
              </a:defRPr>
            </a:pPr>
            <a:r>
              <a:t>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Most balanced predictions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1,238 true positives (best recall)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6,122 false positives (many false alarms)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0C853"/>
                </a:solidFill>
                <a:latin typeface="Calibri"/>
              </a:defRPr>
            </a:pPr>
            <a:r>
              <a:t>•  Recall: 55% — catches most readmissions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3867912"/>
            <a:ext cx="3657600" cy="2560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384048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3931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96D6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29768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Very conservative predictions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Only 127 true positives out of 2,263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High accuracy (88%) but misleading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5722"/>
                </a:solidFill>
                <a:latin typeface="Calibri"/>
              </a:defRPr>
            </a:pPr>
            <a:r>
              <a:t>•  Recall: 6% — misses most readmissions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57032" y="3867912"/>
            <a:ext cx="3657600" cy="2560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3840480"/>
            <a:ext cx="3657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931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96D6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29768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Most conservative at default threshold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 Only 44 true positives out of 2,263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•  Highest accuracy (88.6%)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5722"/>
                </a:solidFill>
                <a:latin typeface="Calibri"/>
              </a:defRPr>
            </a:pPr>
            <a:r>
              <a:t>•  Recall: 2% — needs threshold tuning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Model Evaluation — ROC &amp; Precision-Recall Curves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22860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17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9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9E9E"/>
                </a:solidFill>
                <a:latin typeface="Calibri"/>
              </a:defRPr>
            </a:pPr>
            <a:r>
              <a:t>CS 719 — Midterm Project Review</a:t>
            </a:r>
          </a:p>
        </p:txBody>
      </p:sp>
      <p:pic>
        <p:nvPicPr>
          <p:cNvPr id="8" name="Picture 7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669280" cy="4391605"/>
          </a:xfrm>
          <a:prstGeom prst="rect">
            <a:avLst/>
          </a:prstGeom>
        </p:spPr>
      </p:pic>
      <p:pic>
        <p:nvPicPr>
          <p:cNvPr id="9" name="Picture 8" descr="precision_recall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05840"/>
            <a:ext cx="5943600" cy="460410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93192" y="5148072"/>
            <a:ext cx="5486400" cy="12801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512064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ROC Curves — Area Under Curve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406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96D6"/>
                </a:solidFill>
                <a:latin typeface="Calibri"/>
              </a:defRPr>
            </a:pPr>
            <a:r>
              <a:t>XGBoost: 0.671  &gt;  RF: 0.653  &gt;  LR: 0.642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All above random baseline (0.5), XGBoost leads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5148072"/>
            <a:ext cx="5669280" cy="12801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5120640"/>
            <a:ext cx="5669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5166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Precision-Recall — Average Precision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4406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0096D6"/>
                </a:solidFill>
                <a:latin typeface="Calibri"/>
              </a:defRPr>
            </a:pPr>
            <a:r>
              <a:t>XGBoost: 0.228  &gt;  LR: 0.202  &gt;  RF: 0.199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All above baseline prevalence (0.114), steep drop-off reflects difficulty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Model Comparison &amp; Best Model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22860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18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9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9E9E"/>
                </a:solidFill>
                <a:latin typeface="Calibri"/>
              </a:defRPr>
            </a:pPr>
            <a:r>
              <a:t>CS 719 — Midterm Project Review</a:t>
            </a:r>
          </a:p>
        </p:txBody>
      </p:sp>
      <p:pic>
        <p:nvPicPr>
          <p:cNvPr id="8" name="Picture 7" descr="model_comparis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943600" cy="2931641"/>
          </a:xfrm>
          <a:prstGeom prst="rect">
            <a:avLst/>
          </a:prstGeom>
        </p:spPr>
      </p:pic>
      <p:pic>
        <p:nvPicPr>
          <p:cNvPr id="9" name="Picture 8" descr="cv_box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05840"/>
            <a:ext cx="5943600" cy="35275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Calibri"/>
              </a:defRPr>
            </a:pPr>
            <a:r>
              <a:t>Model Selection Summary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09160"/>
            <a:ext cx="9509760" cy="347472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7365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7365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Test ROC-AUC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73659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Test 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7365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CV ROC-AUC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7365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CV Std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73659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056632"/>
            <a:ext cx="95097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8406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Logistic Regression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08406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0.6417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08406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0.7051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08406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0.6543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508406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0.0019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508406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0.9981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404104"/>
            <a:ext cx="9509760" cy="3474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43153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43153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0.6525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43153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0.8403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543153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0.9600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543153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0.0015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543153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0.9985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751576"/>
            <a:ext cx="9509760" cy="34747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77900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77900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96D6"/>
                </a:solidFill>
                <a:latin typeface="Calibri"/>
              </a:defRPr>
            </a:pPr>
            <a:r>
              <a:t>0.6711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7790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0.8368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77900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0.9576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577900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0.0015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577900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0.9985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50474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96D6"/>
                </a:solidFill>
                <a:latin typeface="Calibri"/>
              </a:defRPr>
            </a:pPr>
            <a:r>
              <a:t>⭐ SELECTED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172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XGBoost selected as best model: Highest Test ROC-AUC (0.6711) with best cross-validation stability (σ = 0.0015)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Findings So Far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22860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19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9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9E9E"/>
                </a:solidFill>
                <a:latin typeface="Calibri"/>
              </a:defRPr>
            </a:pPr>
            <a:r>
              <a:t>CS 719 — Midterm Project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" y="1216152"/>
            <a:ext cx="11247120" cy="9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96D6"/>
                </a:solidFill>
                <a:latin typeface="Calibri"/>
              </a:defRPr>
            </a:pPr>
            <a:r>
              <a:t>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261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Class Imbalance is 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61848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Only 11.4% positive rate. SMOTE was essential — without it, models predict 'not readmitted' for nearly everyone.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" y="2267712"/>
            <a:ext cx="11247120" cy="9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240280"/>
            <a:ext cx="11247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C853"/>
                </a:solidFill>
                <a:latin typeface="Calibri"/>
              </a:defRPr>
            </a:pPr>
            <a:r>
              <a:t>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313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Prior Inpatient Visits = #1 Predictor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67004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Readmission rate jumps from 9% (0 visits) to 47% (8+ visits). Strongest monotonic signal in the dataset.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" y="3319272"/>
            <a:ext cx="11247120" cy="9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11247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5722"/>
                </a:solidFill>
                <a:latin typeface="Calibri"/>
              </a:defRPr>
            </a:pPr>
            <a:r>
              <a:t>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3649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High Accuracy is Misleading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2160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XGBoost achieves 88.6% accuracy but only 2% recall at default threshold. A naive 'predict all 0' gets 88.6% too.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" y="4370832"/>
            <a:ext cx="11247120" cy="9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43400"/>
            <a:ext cx="11247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96D6"/>
                </a:solidFill>
                <a:latin typeface="Calibri"/>
              </a:defRPr>
            </a:pPr>
            <a:r>
              <a:t>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416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XGBoost is the Best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77316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Highest ROC-AUC (0.671), highest Average Precision (0.228), and stable cross-validation (std = 0.0015).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" y="5422392"/>
            <a:ext cx="11247120" cy="9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86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9C27B0"/>
                </a:solidFill>
                <a:latin typeface="Calibri"/>
              </a:defRPr>
            </a:pPr>
            <a:r>
              <a:t>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468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t>This is an Inherently Hard Problem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82472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E9E9E"/>
                </a:solidFill>
                <a:latin typeface="Calibri"/>
              </a:defRPr>
            </a:pPr>
            <a:r>
              <a:t>Weak feature-target correlations, non-normal distributions. ROC-AUC of 0.67 is typical for this dataset in literature.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Timeline &amp;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22860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20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629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9E9E"/>
                </a:solidFill>
                <a:latin typeface="Calibri"/>
              </a:defRPr>
            </a:pPr>
            <a:r>
              <a:t>CS 719 — Midterm Project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C853"/>
                </a:solidFill>
                <a:latin typeface="Calibri"/>
              </a:defRPr>
            </a:pPr>
            <a:r>
              <a:t>COMPLETED (Weeks 1–5)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C853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645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E9E9E"/>
                </a:solidFill>
                <a:latin typeface="Calibri"/>
              </a:defRPr>
            </a:pPr>
            <a:r>
              <a:t>Jan 27 – Feb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Dataset exploration &amp; literature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762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C853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762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1762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E9E9E"/>
                </a:solidFill>
                <a:latin typeface="Calibri"/>
              </a:defRPr>
            </a:pPr>
            <a:r>
              <a:t>Feb 3 – Feb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1762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Data cleaning, missing values, encoding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066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C853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066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7066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E9E9E"/>
                </a:solidFill>
                <a:latin typeface="Calibri"/>
              </a:defRPr>
            </a:pPr>
            <a:r>
              <a:t>Feb 10 – Feb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7066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Feature engineering &amp; binary target creation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23697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C853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2369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23697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E9E9E"/>
                </a:solidFill>
                <a:latin typeface="Calibri"/>
              </a:defRPr>
            </a:pPr>
            <a:r>
              <a:t>Feb 17 – Feb 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32369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Model training: LR, RF, XGBoost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7673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C853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7673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37673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E9E9E"/>
                </a:solidFill>
                <a:latin typeface="Calibri"/>
              </a:defRPr>
            </a:pPr>
            <a:r>
              <a:t>Feb 24 – Mar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7673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Evaluation, model selection, midterm prep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" y="4416552"/>
            <a:ext cx="8229600" cy="457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4348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96D6"/>
                </a:solidFill>
                <a:latin typeface="Calibri"/>
              </a:defRPr>
            </a:pPr>
            <a:r>
              <a:t>★  MILESTONE:  Mid-Term Project Review — March 3, 2026  (TODAY)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5722"/>
                </a:solidFill>
                <a:latin typeface="Calibri"/>
              </a:defRPr>
            </a:pPr>
            <a:r>
              <a:t>UPCOMING (Weeks 6–12)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486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Week 6–7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5486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Hyperparameter tuning, Explainability (PFI + PDP)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852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Week 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5852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Visualization of predictions &amp; explainability results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62179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Week 9–10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6217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Final report drafting (Intro, Background, Results, Discussion)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65836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Week 11–12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6583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Review, proofreading &amp; final submission (Apr 24)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71432" y="1216152"/>
            <a:ext cx="2560320" cy="51206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44000" y="1188720"/>
            <a:ext cx="25603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1371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96D6"/>
                </a:solidFill>
                <a:latin typeface="Calibri"/>
              </a:defRPr>
            </a:pPr>
            <a:r>
              <a:t>PROGRESS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1828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0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0096D6"/>
                </a:solidFill>
                <a:latin typeface="Calibri"/>
              </a:defRPr>
            </a:pPr>
            <a:r>
              <a:t>42%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2743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E9E9E"/>
                </a:solidFill>
                <a:latin typeface="Calibri"/>
              </a:defRPr>
            </a:pPr>
            <a:r>
              <a:t>5 of 12 weeks complete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09760" y="3291840"/>
            <a:ext cx="1828800" cy="228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09760" y="3291840"/>
            <a:ext cx="768096" cy="2286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3840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Calibri"/>
              </a:defRPr>
            </a:pPr>
            <a:r>
              <a:t>Remaining Milestones: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4206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E9E9E"/>
                </a:solidFill>
                <a:latin typeface="Calibri"/>
              </a:defRPr>
            </a:pPr>
            <a:r>
              <a:t>○  Explainability analysis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45262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E9E9E"/>
                </a:solidFill>
                <a:latin typeface="Calibri"/>
              </a:defRPr>
            </a:pPr>
            <a:r>
              <a:t>○  Streamlit dashboard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4846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E9E9E"/>
                </a:solidFill>
                <a:latin typeface="Calibri"/>
              </a:defRPr>
            </a:pPr>
            <a:r>
              <a:t>○  Final report writing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5166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E9E9E"/>
                </a:solidFill>
                <a:latin typeface="Calibri"/>
              </a:defRPr>
            </a:pPr>
            <a:r>
              <a:t>○  Final submission: Apr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00400"/>
            <a:ext cx="2103120" cy="508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5661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Hospital Readmission Prediction — Diabetes 130-US Hospitals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976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E9E9E"/>
                </a:solidFill>
                <a:latin typeface="Calibri"/>
              </a:defRPr>
            </a:pPr>
            <a:r>
              <a:t>Raj Panchal  |  CS 719  |  March 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1206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96D6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B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E0E0E0"/>
                </a:solidFill>
                <a:latin typeface="Calibri"/>
              </a:defRPr>
            </a:pPr>
            <a:r>
              <a:t>21 /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629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9E9E"/>
                </a:solidFill>
                <a:latin typeface="Calibri"/>
              </a:defRPr>
            </a:pPr>
            <a:r>
              <a:t>CS 719 — Midterm Project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