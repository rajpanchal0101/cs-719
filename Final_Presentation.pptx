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70" r:id="rId11"/>
    <p:sldId id="264" r:id="rId12"/>
    <p:sldId id="265" r:id="rId13"/>
    <p:sldId id="271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87B7"/>
    <a:srgbClr val="33FF8F"/>
    <a:srgbClr val="FFD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A1F1B-F00B-4CD2-89F5-7BB74EB2E9F1}" type="datetimeFigureOut">
              <a:rPr lang="en-CA" smtClean="0"/>
              <a:t>2026-04-14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8E3B5B-7468-4F1A-A1EC-BE36765E179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631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8E3B5B-7468-4F1A-A1EC-BE36765E179D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110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19" cy="461240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sz="4800" dirty="0">
                <a:solidFill>
                  <a:schemeClr val="bg1"/>
                </a:solidFill>
              </a:rPr>
              <a:t>Predictive Analytics and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38BDF8"/>
                </a:solidFill>
                <a:latin typeface="Calibri"/>
              </a:defRPr>
            </a:pPr>
            <a:r>
              <a:rPr sz="4800" dirty="0">
                <a:solidFill>
                  <a:schemeClr val="bg1"/>
                </a:solidFill>
              </a:rPr>
              <a:t>for Hospital Readmission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337560"/>
            <a:ext cx="2743200" cy="38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611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rPr dirty="0"/>
              <a:t>CS 719 — Data Science Project  | 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3419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800" dirty="0"/>
              <a:t>Raj Panchal  (200490453)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April 14,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257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dirty="0"/>
              <a:t>Instructor:  Dr. Howard J. Hamilton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1991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0" y="6291072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Problem &amp;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29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6032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797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Approach: ML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108959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2724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75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Model Training &amp;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245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Results &amp;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79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7316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30352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21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Patient Risk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852160"/>
            <a:ext cx="5029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704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Conclusions &amp; Live Demo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10E227-DC97-3FFA-F5F3-8DAD74264FD8}"/>
              </a:ext>
            </a:extLst>
          </p:cNvPr>
          <p:cNvSpPr txBox="1"/>
          <p:nvPr/>
        </p:nvSpPr>
        <p:spPr>
          <a:xfrm>
            <a:off x="7132320" y="1645920"/>
            <a:ext cx="420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rPr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Project at a Glance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644A0D-6569-404D-FDAC-55A39657FBAC}"/>
              </a:ext>
            </a:extLst>
          </p:cNvPr>
          <p:cNvSpPr/>
          <p:nvPr/>
        </p:nvSpPr>
        <p:spPr>
          <a:xfrm>
            <a:off x="7132320" y="2057400"/>
            <a:ext cx="1097280" cy="381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7AFDAE-5354-E1E0-690C-0BAC3428F494}"/>
              </a:ext>
            </a:extLst>
          </p:cNvPr>
          <p:cNvSpPr txBox="1"/>
          <p:nvPr/>
        </p:nvSpPr>
        <p:spPr>
          <a:xfrm>
            <a:off x="7132320" y="228600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🏥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004571-D152-FEAD-6166-6DCE7C8BE552}"/>
              </a:ext>
            </a:extLst>
          </p:cNvPr>
          <p:cNvSpPr txBox="1"/>
          <p:nvPr/>
        </p:nvSpPr>
        <p:spPr>
          <a:xfrm>
            <a:off x="7680960" y="22860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101,766 patient encounters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059C5A-A6B5-02B0-C9C4-E4B5B6A8A448}"/>
              </a:ext>
            </a:extLst>
          </p:cNvPr>
          <p:cNvSpPr txBox="1"/>
          <p:nvPr/>
        </p:nvSpPr>
        <p:spPr>
          <a:xfrm>
            <a:off x="7132320" y="283464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📊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F53400-57C5-C8F6-EDF2-BA7D5AEBD6CF}"/>
              </a:ext>
            </a:extLst>
          </p:cNvPr>
          <p:cNvSpPr txBox="1"/>
          <p:nvPr/>
        </p:nvSpPr>
        <p:spPr>
          <a:xfrm>
            <a:off x="7680960" y="28346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/>
              <a:t>46 predictive features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91DAAA-3CDC-5D9E-BFF5-1ED1A064BA4C}"/>
              </a:ext>
            </a:extLst>
          </p:cNvPr>
          <p:cNvSpPr txBox="1"/>
          <p:nvPr/>
        </p:nvSpPr>
        <p:spPr>
          <a:xfrm>
            <a:off x="7132320" y="338328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🤖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335245-FF72-6615-ABDA-6EC03488970B}"/>
              </a:ext>
            </a:extLst>
          </p:cNvPr>
          <p:cNvSpPr txBox="1"/>
          <p:nvPr/>
        </p:nvSpPr>
        <p:spPr>
          <a:xfrm>
            <a:off x="7680960" y="3383280"/>
            <a:ext cx="365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/>
              <a:t>XGBoost best model (ROC-AUC 0.665)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2D523C-95CF-8850-DB85-7ABDA4A442B9}"/>
              </a:ext>
            </a:extLst>
          </p:cNvPr>
          <p:cNvSpPr txBox="1"/>
          <p:nvPr/>
        </p:nvSpPr>
        <p:spPr>
          <a:xfrm>
            <a:off x="7132320" y="3931919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🎯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F93916-B602-9A60-7079-CDBFF2FA76DB}"/>
              </a:ext>
            </a:extLst>
          </p:cNvPr>
          <p:cNvSpPr txBox="1"/>
          <p:nvPr/>
        </p:nvSpPr>
        <p:spPr>
          <a:xfrm>
            <a:off x="7680960" y="3931919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/>
              <a:t>Threshold: 0.50 → 0.20 (9x recall)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F99D95-1C6A-5D96-92DB-AF140F6C2549}"/>
              </a:ext>
            </a:extLst>
          </p:cNvPr>
          <p:cNvSpPr txBox="1"/>
          <p:nvPr/>
        </p:nvSpPr>
        <p:spPr>
          <a:xfrm>
            <a:off x="7132320" y="448056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💡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FA395A-4CF1-DDF3-A09D-A710A4311DF1}"/>
              </a:ext>
            </a:extLst>
          </p:cNvPr>
          <p:cNvSpPr txBox="1"/>
          <p:nvPr/>
        </p:nvSpPr>
        <p:spPr>
          <a:xfrm>
            <a:off x="7680960" y="448056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Explainable AI (PFI + PDP)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D708FB-B536-A3D8-5F91-42FD5C5C05D5}"/>
              </a:ext>
            </a:extLst>
          </p:cNvPr>
          <p:cNvSpPr txBox="1"/>
          <p:nvPr/>
        </p:nvSpPr>
        <p:spPr>
          <a:xfrm>
            <a:off x="7132320" y="5029200"/>
            <a:ext cx="45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rPr sz="2000"/>
              <a:t>💻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A4D0EE-2AD4-9FEA-CA40-BA0A465DBB6A}"/>
              </a:ext>
            </a:extLst>
          </p:cNvPr>
          <p:cNvSpPr txBox="1"/>
          <p:nvPr/>
        </p:nvSpPr>
        <p:spPr>
          <a:xfrm>
            <a:off x="7680960" y="50292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Interactive </a:t>
            </a:r>
            <a:r>
              <a:rPr sz="2000" dirty="0" err="1"/>
              <a:t>Streamlit</a:t>
            </a:r>
            <a:r>
              <a:rPr sz="2000" dirty="0"/>
              <a:t>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Why predicting readmissions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  <a:latin typeface="Calibri"/>
              </a:defRPr>
            </a:pPr>
            <a:r>
              <a:t>$26B+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Preventable readmissions</a:t>
            </a:r>
            <a:br>
              <a:rPr sz="2000" dirty="0"/>
            </a:br>
            <a:r>
              <a:rPr sz="2000" dirty="0"/>
              <a:t>cost the US healthcare</a:t>
            </a:r>
            <a:br>
              <a:rPr sz="2000" dirty="0"/>
            </a:br>
            <a:r>
              <a:rPr sz="2000" dirty="0"/>
              <a:t>system billions yearly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56616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923C"/>
                </a:solidFill>
                <a:latin typeface="Calibri"/>
              </a:defRPr>
            </a:pPr>
            <a:r>
              <a:t>11.4%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Readmission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Nearly 1 in 9 </a:t>
            </a:r>
            <a:br>
              <a:rPr lang="en-CA" sz="2000" dirty="0"/>
            </a:br>
            <a:r>
              <a:rPr sz="2000" dirty="0"/>
              <a:t>patients are readmitted</a:t>
            </a:r>
            <a:br>
              <a:rPr sz="2000" dirty="0"/>
            </a:br>
            <a:r>
              <a:rPr sz="2000" dirty="0"/>
              <a:t>within 30 days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371600"/>
            <a:ext cx="3566160" cy="25603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1371600"/>
            <a:ext cx="356616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1645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  <a:latin typeface="Calibri"/>
              </a:defRPr>
            </a:pPr>
            <a:r>
              <a:t>3,300+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Daily Readmissions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3200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Hospitals face penalties</a:t>
            </a:r>
            <a:br>
              <a:rPr sz="2000" dirty="0"/>
            </a:br>
            <a:r>
              <a:rPr sz="2000" dirty="0"/>
              <a:t>under CMS Readmissions</a:t>
            </a:r>
            <a:br>
              <a:rPr sz="2000" dirty="0"/>
            </a:br>
            <a:r>
              <a:rPr sz="2000" dirty="0"/>
              <a:t>Reduction Program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2262366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6350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rPr sz="2400" dirty="0"/>
              <a:t>PROJECT 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Build an explainable ML model that identifies high-risk</a:t>
            </a:r>
            <a:r>
              <a:rPr lang="en-US" dirty="0"/>
              <a:t> </a:t>
            </a:r>
            <a:r>
              <a:rPr dirty="0"/>
              <a:t>patients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before discharge, enabling targeted interventions to reduce preventable 30-day readmissions.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52160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lang="en-CA" sz="2000" dirty="0">
                <a:solidFill>
                  <a:srgbClr val="FFDE75"/>
                </a:solidFill>
              </a:rPr>
              <a:t>Input:</a:t>
            </a:r>
            <a:r>
              <a:rPr sz="2000" dirty="0">
                <a:solidFill>
                  <a:srgbClr val="FFDE75"/>
                </a:solidFill>
              </a:rPr>
              <a:t> </a:t>
            </a:r>
            <a:r>
              <a:rPr sz="2000" dirty="0"/>
              <a:t>Demographics, diagnoses, medications, visits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5216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>
                <a:solidFill>
                  <a:srgbClr val="33FF8F"/>
                </a:solidFill>
              </a:rPr>
              <a:t>Output: </a:t>
            </a:r>
            <a:r>
              <a:rPr sz="2000" dirty="0"/>
              <a:t>Risk probability + feature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Data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UCI Diabetes 130-US Hospitals Dataset (1999–2008)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17761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Calibri"/>
              </a:defRPr>
            </a:pPr>
            <a:r>
              <a:t>101,766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Patient Encounters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37160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1508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alibri"/>
              </a:defRPr>
            </a:pPr>
            <a:r>
              <a:t>130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US Hospitals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Original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2926080"/>
            <a:ext cx="2286000" cy="128016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Calibri"/>
              </a:defRPr>
            </a:pPr>
            <a:r>
              <a:rPr dirty="0"/>
              <a:t>10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611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Data Span</a:t>
            </a:r>
          </a:p>
        </p:txBody>
      </p:sp>
      <p:pic>
        <p:nvPicPr>
          <p:cNvPr id="21" name="Picture 20" descr="cell_1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134" y="936486"/>
            <a:ext cx="6575066" cy="3909834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57200" y="5029200"/>
            <a:ext cx="11247120" cy="128016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63500" cy="12801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rPr dirty="0"/>
              <a:t>KEY CHALLENGE: </a:t>
            </a:r>
            <a:r>
              <a:rPr dirty="0">
                <a:solidFill>
                  <a:schemeClr val="bg1"/>
                </a:solidFill>
              </a:rPr>
              <a:t>CLASS IMBALANCE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99106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 88.6% Not Readmitted vs 11.4% Readmitted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89788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SMOTE on training set only (no data leakage)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57784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 Stratified 80/20 train-test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8978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•  Demographics, diagnoses, medications, visit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Approach: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End-to-end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8085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5603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80160" y="15544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Raw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101,766 records</a:t>
            </a:r>
            <a:br>
              <a:rPr sz="2000" dirty="0"/>
            </a:br>
            <a:r>
              <a:rPr sz="2000" dirty="0"/>
              <a:t>50 features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718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33375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371600"/>
            <a:ext cx="25603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Data Cleaning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7432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Remove nulls,</a:t>
            </a:r>
            <a:br>
              <a:rPr sz="2000" dirty="0"/>
            </a:br>
            <a:r>
              <a:rPr sz="2000" dirty="0"/>
              <a:t>invalid records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436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Rounded Rectangle 20"/>
          <p:cNvSpPr/>
          <p:nvPr/>
        </p:nvSpPr>
        <p:spPr>
          <a:xfrm>
            <a:off x="63093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256032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223760" y="1554480"/>
            <a:ext cx="502920" cy="5029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 dirty="0"/>
              <a:t>Feature</a:t>
            </a:r>
            <a:br>
              <a:rPr sz="2000" dirty="0"/>
            </a:br>
            <a:r>
              <a:rPr sz="2000" dirty="0"/>
              <a:t>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4 new features,</a:t>
            </a:r>
            <a:br>
              <a:rPr sz="2000" dirty="0"/>
            </a:br>
            <a:r>
              <a:rPr sz="2000" dirty="0"/>
              <a:t>ICD-9 mapping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214884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Rounded Rectangle 26"/>
          <p:cNvSpPr/>
          <p:nvPr/>
        </p:nvSpPr>
        <p:spPr>
          <a:xfrm>
            <a:off x="9281160" y="13716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281160" y="1371600"/>
            <a:ext cx="25603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95560" y="155448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1488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Train/Test</a:t>
            </a:r>
            <a:br>
              <a:rPr sz="2000"/>
            </a:br>
            <a:r>
              <a:rPr sz="2000"/>
              <a:t>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7432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/>
              <a:t>80/20 stratified</a:t>
            </a:r>
            <a:br>
              <a:rPr sz="2000"/>
            </a:br>
            <a:r>
              <a:rPr sz="2000"/>
              <a:t>+ SMOTE on train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515600" y="3474720"/>
            <a:ext cx="365760" cy="4572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Rounded Rectangle 32"/>
          <p:cNvSpPr/>
          <p:nvPr/>
        </p:nvSpPr>
        <p:spPr>
          <a:xfrm>
            <a:off x="92811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81160" y="4114800"/>
            <a:ext cx="2560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Oval 34"/>
          <p:cNvSpPr/>
          <p:nvPr/>
        </p:nvSpPr>
        <p:spPr>
          <a:xfrm>
            <a:off x="10195560" y="429768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sz="200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8920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Model Training</a:t>
            </a:r>
            <a:br>
              <a:rPr sz="2000"/>
            </a:br>
            <a:r>
              <a:rPr sz="2000"/>
              <a:t>&amp;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54864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/>
              <a:t>3 classifiers +</a:t>
            </a:r>
            <a:br>
              <a:rPr sz="2000"/>
            </a:br>
            <a:r>
              <a:rPr sz="2000"/>
              <a:t>GridSearchCV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89154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Rounded Rectangle 38"/>
          <p:cNvSpPr/>
          <p:nvPr/>
        </p:nvSpPr>
        <p:spPr>
          <a:xfrm>
            <a:off x="63093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309360" y="4114800"/>
            <a:ext cx="256032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Oval 40"/>
          <p:cNvSpPr/>
          <p:nvPr/>
        </p:nvSpPr>
        <p:spPr>
          <a:xfrm>
            <a:off x="7223760" y="4297680"/>
            <a:ext cx="502920" cy="5029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sz="2000"/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920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Model</a:t>
            </a:r>
            <a:br>
              <a:rPr sz="2000"/>
            </a:br>
            <a:r>
              <a:rPr sz="2000"/>
              <a:t>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864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/>
              <a:t>ROC-AUC, F1,</a:t>
            </a:r>
            <a:br>
              <a:rPr sz="2000"/>
            </a:br>
            <a:r>
              <a:rPr sz="2000"/>
              <a:t>confusion matrix</a:t>
            </a:r>
          </a:p>
        </p:txBody>
      </p:sp>
      <p:sp>
        <p:nvSpPr>
          <p:cNvPr id="44" name="Left Arrow 43"/>
          <p:cNvSpPr/>
          <p:nvPr/>
        </p:nvSpPr>
        <p:spPr>
          <a:xfrm>
            <a:off x="59436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Rounded Rectangle 44"/>
          <p:cNvSpPr/>
          <p:nvPr/>
        </p:nvSpPr>
        <p:spPr>
          <a:xfrm>
            <a:off x="33375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37560" y="4114800"/>
            <a:ext cx="25603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7" name="Oval 46"/>
          <p:cNvSpPr/>
          <p:nvPr/>
        </p:nvSpPr>
        <p:spPr>
          <a:xfrm>
            <a:off x="4251960" y="429768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sz="2000"/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8920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Threshold</a:t>
            </a:r>
            <a:br>
              <a:rPr sz="2000"/>
            </a:br>
            <a:r>
              <a:rPr sz="2000"/>
              <a:t>Optimization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4864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/>
              <a:t>0.50 → 0.20</a:t>
            </a:r>
            <a:br>
              <a:rPr sz="2000"/>
            </a:br>
            <a:r>
              <a:rPr sz="2000"/>
              <a:t>(9x recall gain)</a:t>
            </a:r>
          </a:p>
        </p:txBody>
      </p:sp>
      <p:sp>
        <p:nvSpPr>
          <p:cNvPr id="50" name="Left Arrow 49"/>
          <p:cNvSpPr/>
          <p:nvPr/>
        </p:nvSpPr>
        <p:spPr>
          <a:xfrm>
            <a:off x="2971800" y="4892040"/>
            <a:ext cx="320040" cy="32004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1" name="Rounded Rectangle 50"/>
          <p:cNvSpPr/>
          <p:nvPr/>
        </p:nvSpPr>
        <p:spPr>
          <a:xfrm>
            <a:off x="365760" y="4114800"/>
            <a:ext cx="2560320" cy="201168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65760" y="4114800"/>
            <a:ext cx="25603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3" name="Oval 52"/>
          <p:cNvSpPr/>
          <p:nvPr/>
        </p:nvSpPr>
        <p:spPr>
          <a:xfrm>
            <a:off x="1280160" y="4297680"/>
            <a:ext cx="502920" cy="5029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rPr sz="2000"/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9204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sz="2000"/>
              <a:t>Explainability</a:t>
            </a:r>
            <a:br>
              <a:rPr sz="2000"/>
            </a:br>
            <a:r>
              <a:rPr sz="2000"/>
              <a:t>&amp; 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486400"/>
            <a:ext cx="2377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/>
              <a:t>PFI, PDP +</a:t>
            </a:r>
            <a:br>
              <a:rPr sz="2000"/>
            </a:br>
            <a:r>
              <a:rPr sz="2000"/>
              <a:t>Streamlit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Data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Cleaning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200400" cy="22860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20040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7171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101,766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50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Raw, noisy, imbalanced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94760" y="2286000"/>
            <a:ext cx="457200" cy="4572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200400" cy="22860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320040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116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99,340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46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926080"/>
            <a:ext cx="2834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Clean, encoded, balanced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11247120" cy="22860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63500" cy="2286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4846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rPr sz="2400" dirty="0">
                <a:solidFill>
                  <a:schemeClr val="accent6"/>
                </a:solidFill>
              </a:rPr>
              <a:t>FEATURE ENGINEERING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536910"/>
            <a:ext cx="1097280" cy="45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rPr sz="2400" dirty="0" err="1"/>
              <a:t>total_visits</a:t>
            </a:r>
            <a:endParaRPr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3474720" y="470916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= outpatient + emergency + inpatient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7492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rPr sz="2400" dirty="0" err="1"/>
              <a:t>num_med_changed</a:t>
            </a:r>
            <a:endParaRPr sz="2400" dirty="0"/>
          </a:p>
        </p:txBody>
      </p:sp>
      <p:sp>
        <p:nvSpPr>
          <p:cNvPr id="30" name="TextBox 29"/>
          <p:cNvSpPr txBox="1"/>
          <p:nvPr/>
        </p:nvSpPr>
        <p:spPr>
          <a:xfrm>
            <a:off x="3474720" y="507492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/>
              <a:t>= count of medications adjusted (Up/Down)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Calibri"/>
              </a:defRPr>
            </a:pPr>
            <a:r>
              <a:rPr sz="2400" dirty="0" err="1"/>
              <a:t>age_numeric</a:t>
            </a:r>
            <a:endParaRPr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3474720" y="544068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/>
              <a:t>= midpoint of age bracket (e.g. [70-80) → 75)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0644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rPr sz="2400" dirty="0">
                <a:solidFill>
                  <a:srgbClr val="FFDE75"/>
                </a:solidFill>
              </a:rPr>
              <a:t>ICD-9 mapping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58064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/>
              <a:t>= diagnosis codes → 9 clinical categories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42C28-8326-8E22-8222-04C5B5F2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F714C1-1EE4-FA70-5479-BB1A23D247F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89D81A-22D9-156C-BA71-92012B642C67}"/>
              </a:ext>
            </a:extLst>
          </p:cNvPr>
          <p:cNvSpPr txBox="1"/>
          <p:nvPr/>
        </p:nvSpPr>
        <p:spPr>
          <a:xfrm>
            <a:off x="548640" y="228600"/>
            <a:ext cx="10881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lang="en-US" sz="4000" dirty="0"/>
              <a:t>Key Discovery — Readmission by Prior Visits</a:t>
            </a:r>
          </a:p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endParaRPr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51796-0E4F-3312-AA4D-29726BC0CED8}"/>
              </a:ext>
            </a:extLst>
          </p:cNvPr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E0980-2715-26E6-B870-5B44D36D0D87}"/>
              </a:ext>
            </a:extLst>
          </p:cNvPr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7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BE172-E783-9E47-F9B0-FD30863E0CC5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8B8B1-FCD6-882D-DE53-AFBFB35B5CD3}"/>
              </a:ext>
            </a:extLst>
          </p:cNvPr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22" name="Picture 21" descr="cell_23_out_0.png">
            <a:extLst>
              <a:ext uri="{FF2B5EF4-FFF2-40B4-BE49-F238E27FC236}">
                <a16:creationId xmlns:a16="http://schemas.microsoft.com/office/drawing/2014/main" id="{F4C60FF5-9787-8506-3DD8-28CFB1C5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8532"/>
            <a:ext cx="8457137" cy="526221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E99FD2F-7C3F-342B-CA0F-64755521D789}"/>
              </a:ext>
            </a:extLst>
          </p:cNvPr>
          <p:cNvSpPr txBox="1"/>
          <p:nvPr/>
        </p:nvSpPr>
        <p:spPr>
          <a:xfrm>
            <a:off x="9417789" y="1736973"/>
            <a:ext cx="2652291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defRPr sz="2400" b="1">
                <a:solidFill>
                  <a:srgbClr val="2C3E50"/>
                </a:solidFill>
                <a:latin typeface="Calibri"/>
              </a:defRPr>
            </a:pPr>
            <a:r>
              <a:rPr lang="en-CA" dirty="0">
                <a:solidFill>
                  <a:schemeClr val="bg1"/>
                </a:solidFill>
              </a:rPr>
              <a:t>Prior inpatient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visits = strongest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predictor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rPr lang="en-CA" dirty="0">
                <a:solidFill>
                  <a:srgbClr val="33FF8F"/>
                </a:solidFill>
              </a:rPr>
              <a:t>0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27AE60"/>
                </a:solidFill>
                <a:latin typeface="Calibri"/>
              </a:defRPr>
            </a:pPr>
            <a:r>
              <a:rPr lang="en-CA" dirty="0">
                <a:solidFill>
                  <a:srgbClr val="33FF8F"/>
                </a:solidFill>
              </a:rPr>
              <a:t>9%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67E22"/>
                </a:solidFill>
                <a:latin typeface="Calibri"/>
              </a:defRPr>
            </a:pPr>
            <a:r>
              <a:rPr lang="en-CA" dirty="0">
                <a:solidFill>
                  <a:srgbClr val="FFDE75"/>
                </a:solidFill>
              </a:rPr>
              <a:t>4 visits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200" b="0">
                <a:solidFill>
                  <a:srgbClr val="E67E22"/>
                </a:solidFill>
                <a:latin typeface="Calibri"/>
              </a:defRPr>
            </a:pPr>
            <a:r>
              <a:rPr lang="en-CA" dirty="0">
                <a:solidFill>
                  <a:srgbClr val="FFDE75"/>
                </a:solidFill>
              </a:rPr>
              <a:t>25% readmission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E74C3C"/>
                </a:solidFill>
                <a:latin typeface="Calibri"/>
              </a:defRPr>
            </a:pPr>
            <a:r>
              <a:rPr lang="en-CA" dirty="0">
                <a:solidFill>
                  <a:srgbClr val="00B0F0"/>
                </a:solidFill>
              </a:rPr>
              <a:t>8 visits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E74C3C"/>
                </a:solidFill>
                <a:latin typeface="Calibri"/>
              </a:defRPr>
            </a:pPr>
            <a:r>
              <a:rPr lang="en-CA" dirty="0">
                <a:solidFill>
                  <a:srgbClr val="00B0F0"/>
                </a:solidFill>
              </a:rPr>
              <a:t>47% readmission</a:t>
            </a:r>
          </a:p>
        </p:txBody>
      </p:sp>
    </p:spTree>
    <p:extLst>
      <p:ext uri="{BB962C8B-B14F-4D97-AF65-F5344CB8AC3E}">
        <p14:creationId xmlns:p14="http://schemas.microsoft.com/office/powerpoint/2010/main" val="91419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Model Training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Three classifiers with </a:t>
            </a:r>
            <a:r>
              <a:rPr dirty="0" err="1">
                <a:solidFill>
                  <a:schemeClr val="bg1"/>
                </a:solidFill>
              </a:rPr>
              <a:t>GridSearchCV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0" y="6307128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8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56616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/>
              <a:t>C=0.01, solver='</a:t>
            </a:r>
            <a:r>
              <a:rPr sz="2000" dirty="0" err="1"/>
              <a:t>lbfgs</a:t>
            </a:r>
            <a:r>
              <a:rPr dirty="0"/>
              <a:t>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6888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Test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9748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8BDF8"/>
                </a:solidFill>
                <a:latin typeface="Calibri"/>
              </a:defRPr>
            </a:pPr>
            <a:r>
              <a:rPr sz="2400"/>
              <a:t>0.642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3756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0.641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7764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0.705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1371600"/>
            <a:ext cx="35661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16002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 dirty="0"/>
              <a:t>Random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57400"/>
            <a:ext cx="3383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 err="1"/>
              <a:t>n_estimators</a:t>
            </a:r>
            <a:r>
              <a:rPr sz="2000" dirty="0"/>
              <a:t>=200, depth=20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68880"/>
            <a:ext cx="30175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0" y="269748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9748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A78BFA"/>
                </a:solidFill>
                <a:latin typeface="Calibri"/>
              </a:defRPr>
            </a:pPr>
            <a:r>
              <a:rPr sz="2400"/>
              <a:t>0.647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0.885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97764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F1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4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0.837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1371600"/>
            <a:ext cx="3566160" cy="41148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1371600"/>
            <a:ext cx="35661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241280" y="1554480"/>
            <a:ext cx="1371600" cy="36576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Calibri"/>
              </a:defRPr>
            </a:pPr>
            <a:r>
              <a:t>SELECTED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16002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 dirty="0" err="1"/>
              <a:t>XGBoost</a:t>
            </a:r>
            <a:endParaRPr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8503920" y="2057400"/>
            <a:ext cx="329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sz="2000" dirty="0" err="1"/>
              <a:t>lr</a:t>
            </a:r>
            <a:r>
              <a:rPr sz="2000" dirty="0"/>
              <a:t>=0.05, depth=8, </a:t>
            </a:r>
            <a:r>
              <a:rPr sz="2000" dirty="0" err="1"/>
              <a:t>n_est</a:t>
            </a:r>
            <a:r>
              <a:rPr sz="2000" dirty="0"/>
              <a:t>=100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468880"/>
            <a:ext cx="3017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03920" y="269748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ROC-AUC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269748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34D399"/>
                </a:solidFill>
                <a:latin typeface="Calibri"/>
              </a:defRPr>
            </a:pPr>
            <a:r>
              <a:rPr sz="2400"/>
              <a:t>0.665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33756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33756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0.886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977640"/>
            <a:ext cx="2011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rPr sz="2400"/>
              <a:t>Test F1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977640"/>
            <a:ext cx="109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sz="2400"/>
              <a:t>0.841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669280"/>
            <a:ext cx="11430000" cy="73152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65760" y="5669280"/>
            <a:ext cx="63500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76072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sz="2000" dirty="0" err="1">
                <a:solidFill>
                  <a:srgbClr val="33FF8F"/>
                </a:solidFill>
              </a:rPr>
              <a:t>XGBoost</a:t>
            </a:r>
            <a:r>
              <a:rPr sz="2000" dirty="0">
                <a:solidFill>
                  <a:srgbClr val="33FF8F"/>
                </a:solidFill>
              </a:rPr>
              <a:t> selected: </a:t>
            </a:r>
            <a:r>
              <a:rPr sz="2000" dirty="0"/>
              <a:t>highest test ROC-AUC (0.665) and best balance of precision and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Results: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ROC curves, confusion matrices &amp;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59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9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9" name="Picture 8" descr="cell_38_ou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700638" cy="5482340"/>
          </a:xfrm>
          <a:prstGeom prst="rect">
            <a:avLst/>
          </a:prstGeom>
        </p:spPr>
      </p:pic>
      <p:pic>
        <p:nvPicPr>
          <p:cNvPr id="11" name="Picture 10" descr="cell_41_ou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288" y="1201700"/>
            <a:ext cx="4944792" cy="357264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25288" y="4936943"/>
            <a:ext cx="4119762" cy="1796394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23878" y="4985876"/>
            <a:ext cx="50800" cy="16819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3268" y="49244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rPr dirty="0"/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3268" y="5305961"/>
            <a:ext cx="34456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All models beat</a:t>
            </a:r>
            <a:r>
              <a:rPr lang="en-US" dirty="0"/>
              <a:t> </a:t>
            </a:r>
            <a:r>
              <a:rPr dirty="0"/>
              <a:t>random baseline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best</a:t>
            </a:r>
            <a:r>
              <a:rPr lang="en-US" dirty="0"/>
              <a:t> </a:t>
            </a:r>
            <a:r>
              <a:rPr dirty="0"/>
              <a:t>ROC-AUC = 0.665</a:t>
            </a:r>
            <a:br>
              <a:rPr dirty="0"/>
            </a:br>
            <a:br>
              <a:rPr dirty="0"/>
            </a:br>
            <a:r>
              <a:rPr dirty="0"/>
              <a:t>• High CV stability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00A07-8181-02DA-D991-4B4C752F0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2A4F0A-B15F-D57A-D7B3-CAB06164170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1C130-9416-ED82-F0D8-7126FEF08E7F}"/>
              </a:ext>
            </a:extLst>
          </p:cNvPr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Results: Model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8A2F1-9AF7-DC90-C3C9-104146CEE967}"/>
              </a:ext>
            </a:extLst>
          </p:cNvPr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0C917-0E93-A347-C273-A03AB2E262DF}"/>
              </a:ext>
            </a:extLst>
          </p:cNvPr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ROC curves, confusion matrices &amp; cross-validation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93DB9-37F0-0A1D-6FAB-FC55477CAD86}"/>
              </a:ext>
            </a:extLst>
          </p:cNvPr>
          <p:cNvSpPr txBox="1"/>
          <p:nvPr/>
        </p:nvSpPr>
        <p:spPr>
          <a:xfrm>
            <a:off x="11430000" y="6309359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10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314A3D-8159-4563-F5AC-ADA378E31665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F178CE-5BF6-806B-E1FD-74569E6CBFCD}"/>
              </a:ext>
            </a:extLst>
          </p:cNvPr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10" name="Picture 9" descr="cell_37_out_0.png">
            <a:extLst>
              <a:ext uri="{FF2B5EF4-FFF2-40B4-BE49-F238E27FC236}">
                <a16:creationId xmlns:a16="http://schemas.microsoft.com/office/drawing/2014/main" id="{C1B67B78-A3E9-9BA5-4E81-55BFD15C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45920"/>
            <a:ext cx="11141283" cy="41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27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Results: Threshold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Tuning for clinical utility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20608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11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9" name="Picture 8" descr="cell_49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" y="1188720"/>
            <a:ext cx="6467551" cy="54208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280160"/>
            <a:ext cx="2560320" cy="2743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583680" y="1280160"/>
            <a:ext cx="256032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40"/>
            <a:ext cx="237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7171"/>
                </a:solidFill>
                <a:latin typeface="Calibri"/>
              </a:defRPr>
            </a:pPr>
            <a:r>
              <a:rPr sz="2000"/>
              <a:t>DEFAULT (T=0.50)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828800"/>
            <a:ext cx="201168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87171"/>
                </a:solidFill>
                <a:latin typeface="Calibri"/>
              </a:defRPr>
            </a:pPr>
            <a:r>
              <a:rPr sz="2000"/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1460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51460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000"/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118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000"/>
              <a:t>0.07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17388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7171"/>
                </a:solidFill>
                <a:latin typeface="Calibri"/>
              </a:defRPr>
            </a:pPr>
            <a:r>
              <a:rPr sz="2000" dirty="0"/>
              <a:t>Misses 96% of readmissions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235440" y="2286000"/>
            <a:ext cx="365760" cy="36576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ounded Rectangle 21"/>
          <p:cNvSpPr/>
          <p:nvPr/>
        </p:nvSpPr>
        <p:spPr>
          <a:xfrm>
            <a:off x="9692640" y="1280160"/>
            <a:ext cx="2286000" cy="2743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Rectangle 22"/>
          <p:cNvSpPr/>
          <p:nvPr/>
        </p:nvSpPr>
        <p:spPr>
          <a:xfrm>
            <a:off x="9692640" y="1280160"/>
            <a:ext cx="228600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4" name="TextBox 23"/>
          <p:cNvSpPr txBox="1"/>
          <p:nvPr/>
        </p:nvSpPr>
        <p:spPr>
          <a:xfrm>
            <a:off x="9738360" y="1463040"/>
            <a:ext cx="219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rPr sz="2000"/>
              <a:t>OPTIMAL (T=0.20)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1828800"/>
            <a:ext cx="18288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6" name="TextBox 25"/>
          <p:cNvSpPr txBox="1"/>
          <p:nvPr/>
        </p:nvSpPr>
        <p:spPr>
          <a:xfrm>
            <a:off x="9829800" y="2011680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01168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34D399"/>
                </a:solidFill>
                <a:latin typeface="Calibri"/>
              </a:defRPr>
            </a:pPr>
            <a:r>
              <a:rPr sz="2000"/>
              <a:t>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514600"/>
            <a:ext cx="10058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Precision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251460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000"/>
              <a:t>23%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017520"/>
            <a:ext cx="1005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000"/>
              <a:t>F1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301752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sz="2000"/>
              <a:t>0.28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566160"/>
            <a:ext cx="2011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000"/>
              <a:t>9x improvement!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4297680"/>
            <a:ext cx="5394960" cy="2115864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0" y="4297680"/>
            <a:ext cx="63500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66560" y="433064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Calibri"/>
              </a:defRPr>
            </a:pPr>
            <a:r>
              <a:rPr sz="2400" dirty="0"/>
              <a:t>WHY THIS MATTERS</a:t>
            </a:r>
            <a:r>
              <a:rPr lang="en-US" sz="2400" dirty="0"/>
              <a:t> ?</a:t>
            </a:r>
            <a:endParaRPr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6797192" y="4672133"/>
            <a:ext cx="56080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In healthcare, missing a high-risk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patient is far more costly than a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false alarm. Lower threshold = more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false positives but far fewer missed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high-risk patients.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Explainability: PFI &amp; PDP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drives readmission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28393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12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9" name="Picture 8" descr="cell_45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19"/>
            <a:ext cx="8252992" cy="533270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703410" y="1188719"/>
            <a:ext cx="3286170" cy="4754881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52609" y="1351788"/>
            <a:ext cx="45719" cy="7809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67144" y="1225877"/>
            <a:ext cx="32861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Calibri"/>
              </a:defRPr>
            </a:pPr>
            <a:r>
              <a:rPr sz="2400" dirty="0">
                <a:solidFill>
                  <a:srgbClr val="33FF8F"/>
                </a:solidFill>
              </a:rPr>
              <a:t>PERMUTATION FEATURE 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7433" y="2455599"/>
            <a:ext cx="33158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>
                <a:solidFill>
                  <a:schemeClr val="bg1"/>
                </a:solidFill>
              </a:rPr>
              <a:t>Prior inpatient visits (5.7% ROC-AUC drop)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Calibri"/>
              </a:defRPr>
            </a:pPr>
            <a:endParaRPr lang="en-CA" sz="24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>
                <a:solidFill>
                  <a:schemeClr val="bg1"/>
                </a:solidFill>
              </a:rPr>
              <a:t>Discharge disposition (4.5% drop)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defRPr sz="1600" b="0">
                <a:solidFill>
                  <a:srgbClr val="CBD5E1"/>
                </a:solidFill>
                <a:latin typeface="Calibri"/>
              </a:defRPr>
            </a:pPr>
            <a:endParaRPr lang="en-US" sz="2400" dirty="0">
              <a:solidFill>
                <a:schemeClr val="bg1"/>
              </a:solidFill>
            </a:endParaRPr>
          </a:p>
          <a:p>
            <a:pPr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lang="en-US" sz="2400" dirty="0">
                <a:solidFill>
                  <a:srgbClr val="FFDE75"/>
                </a:solidFill>
              </a:rPr>
              <a:t>Top 2 features dominate; remaining features contribute modestly.</a:t>
            </a:r>
            <a:endParaRPr sz="2400" dirty="0">
              <a:solidFill>
                <a:srgbClr val="FFDE7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3EBC0-ACA2-E28D-4671-E9FBB3AF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EA1996-B2B8-E761-C5C9-FEC170CCD14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95D78F-8CB5-8967-868D-ACBAB5413C65}"/>
              </a:ext>
            </a:extLst>
          </p:cNvPr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Explainability: PFI &amp; PDP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8AE90-F669-3BED-5BEA-940B58FE933D}"/>
              </a:ext>
            </a:extLst>
          </p:cNvPr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179C2-ADC1-E57B-277E-08AA126A4A5F}"/>
              </a:ext>
            </a:extLst>
          </p:cNvPr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What drives readmission predictions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95BE8-3326-CE0E-17D0-8F9E66973D79}"/>
              </a:ext>
            </a:extLst>
          </p:cNvPr>
          <p:cNvSpPr txBox="1"/>
          <p:nvPr/>
        </p:nvSpPr>
        <p:spPr>
          <a:xfrm>
            <a:off x="11430000" y="6328393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13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B327E2-8A22-CCB5-58F6-81A79D4DDE17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9F58F-40D2-6705-14FC-BD5D2196FC7C}"/>
              </a:ext>
            </a:extLst>
          </p:cNvPr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pic>
        <p:nvPicPr>
          <p:cNvPr id="10" name="Picture 9" descr="cell_47_out_1.png">
            <a:extLst>
              <a:ext uri="{FF2B5EF4-FFF2-40B4-BE49-F238E27FC236}">
                <a16:creationId xmlns:a16="http://schemas.microsoft.com/office/drawing/2014/main" id="{B45D65D2-EE14-BC02-56AA-A6A9D5A4E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59" y="1417319"/>
            <a:ext cx="8206734" cy="5197599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2CCFA4-D712-6470-3CF4-93657982A06D}"/>
              </a:ext>
            </a:extLst>
          </p:cNvPr>
          <p:cNvSpPr/>
          <p:nvPr/>
        </p:nvSpPr>
        <p:spPr>
          <a:xfrm flipV="1">
            <a:off x="8497709" y="1413727"/>
            <a:ext cx="3693986" cy="4985372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4640D-E1C3-605A-FC4D-468402DF6D1B}"/>
              </a:ext>
            </a:extLst>
          </p:cNvPr>
          <p:cNvSpPr/>
          <p:nvPr/>
        </p:nvSpPr>
        <p:spPr>
          <a:xfrm>
            <a:off x="8497709" y="1413726"/>
            <a:ext cx="45719" cy="830997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61EF06-73A3-14DD-9280-C4BDD2A1C353}"/>
              </a:ext>
            </a:extLst>
          </p:cNvPr>
          <p:cNvSpPr txBox="1"/>
          <p:nvPr/>
        </p:nvSpPr>
        <p:spPr>
          <a:xfrm>
            <a:off x="8634464" y="1445165"/>
            <a:ext cx="34356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rPr sz="2400" dirty="0"/>
              <a:t>PARTIAL DEPENDENCE PLOTS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C30B2E-BD83-46AA-D495-B4F72486C79B}"/>
              </a:ext>
            </a:extLst>
          </p:cNvPr>
          <p:cNvSpPr txBox="1"/>
          <p:nvPr/>
        </p:nvSpPr>
        <p:spPr>
          <a:xfrm>
            <a:off x="8634464" y="2117257"/>
            <a:ext cx="347661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Risk rises sharply with 0→3 prior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inpatient visits. 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lang="en-US" sz="2000" dirty="0">
                <a:solidFill>
                  <a:schemeClr val="bg1"/>
                </a:solidFill>
              </a:rPr>
              <a:t>Discharge disposition: certain discharge types carry higher risk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lang="en-US" sz="2000" dirty="0">
                <a:solidFill>
                  <a:schemeClr val="bg1"/>
                </a:solidFill>
              </a:rPr>
              <a:t>Time in hospital &amp; diagnoses show gradual, smaller effects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endParaRPr lang="en-CA" sz="20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§"/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000" dirty="0">
                <a:solidFill>
                  <a:schemeClr val="bg1"/>
                </a:solidFill>
              </a:rPr>
              <a:t>Model learns clinically</a:t>
            </a:r>
            <a:br>
              <a:rPr sz="2000" dirty="0">
                <a:solidFill>
                  <a:schemeClr val="bg1"/>
                </a:solidFill>
              </a:rPr>
            </a:br>
            <a:r>
              <a:rPr sz="2000" dirty="0">
                <a:solidFill>
                  <a:schemeClr val="bg1"/>
                </a:solidFill>
              </a:rPr>
              <a:t>plausible, interpretable patterns.</a:t>
            </a:r>
          </a:p>
        </p:txBody>
      </p:sp>
    </p:spTree>
    <p:extLst>
      <p:ext uri="{BB962C8B-B14F-4D97-AF65-F5344CB8AC3E}">
        <p14:creationId xmlns:p14="http://schemas.microsoft.com/office/powerpoint/2010/main" val="3453194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Example: Patient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Low, Medium &amp; High risk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14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3749039" cy="5051286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3749039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7280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D399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26080"/>
            <a:ext cx="3017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 35  |  0 inpatient visits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8 meds  |  2 days  |  3 diagnoses</a:t>
            </a:r>
          </a:p>
        </p:txBody>
      </p:sp>
      <p:pic>
        <p:nvPicPr>
          <p:cNvPr id="17" name="Picture 16" descr="cell_59_ou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931920"/>
            <a:ext cx="3657600" cy="21031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251959" y="1280160"/>
            <a:ext cx="3749039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59" y="1280160"/>
            <a:ext cx="3749039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74919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19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MEDIUM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923C"/>
                </a:solidFill>
                <a:latin typeface="Calibri"/>
              </a:defRPr>
            </a:pPr>
            <a:r>
              <a:t>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19" y="2926080"/>
            <a:ext cx="301752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79" y="306324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 65  |  2 inpatient visits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15 meds  |  5 days  |  7 diagnoses</a:t>
            </a:r>
          </a:p>
        </p:txBody>
      </p:sp>
      <p:pic>
        <p:nvPicPr>
          <p:cNvPr id="26" name="Picture 25" descr="cell_57_ou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3931920"/>
            <a:ext cx="3657600" cy="210312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229599" y="1280160"/>
            <a:ext cx="3749039" cy="50292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599" y="1280160"/>
            <a:ext cx="3749039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52559" y="1508760"/>
            <a:ext cx="2103120" cy="411480"/>
          </a:xfrm>
          <a:prstGeom prst="roundRect">
            <a:avLst>
              <a:gd name="adj" fmla="val 5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59" y="1508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9" y="21031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7171"/>
                </a:solidFill>
                <a:latin typeface="Calibri"/>
              </a:defRPr>
            </a:pPr>
            <a:r>
              <a:t>59%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9" y="2606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Readmission Probability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59" y="2926080"/>
            <a:ext cx="301752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03919" y="3063240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 75  |  5 inpatient visits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22 meds  |  8 days  |  9 diagnoses</a:t>
            </a:r>
          </a:p>
        </p:txBody>
      </p:sp>
      <p:pic>
        <p:nvPicPr>
          <p:cNvPr id="35" name="Picture 34" descr="cell_61_ou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3931920"/>
            <a:ext cx="36576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sz="4000" dirty="0"/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04672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Summary of achievements and 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15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7512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rPr b="1" dirty="0">
                <a:solidFill>
                  <a:schemeClr val="bg1"/>
                </a:solidFill>
              </a:rPr>
              <a:t>CS 719 — Data Science Project  |  Raj Panchal (200490453)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351788"/>
            <a:ext cx="5486400" cy="50292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63500" cy="502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020" y="142245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rPr sz="2400" dirty="0">
                <a:solidFill>
                  <a:srgbClr val="00B0F0"/>
                </a:solidFill>
              </a:rPr>
              <a:t>WHAT WAS ACHIEVED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1371600" cy="38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4267" y="1987349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805" y="1958115"/>
            <a:ext cx="53800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End-to-end ML pipeline for 30-day</a:t>
            </a:r>
            <a:br>
              <a:rPr sz="2400" dirty="0"/>
            </a:br>
            <a:r>
              <a:rPr sz="2400" dirty="0"/>
              <a:t>readmission prediction (101K+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375" y="2783071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7118" y="2751954"/>
            <a:ext cx="47231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Trained &amp; compared 3 models;</a:t>
            </a:r>
            <a:br>
              <a:rPr sz="2400" dirty="0"/>
            </a:br>
            <a:r>
              <a:rPr sz="2400" dirty="0" err="1"/>
              <a:t>XGBoost</a:t>
            </a:r>
            <a:r>
              <a:rPr sz="2400" dirty="0"/>
              <a:t> selected (ROC-AUC 0.665)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420" y="3645749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118" y="3594699"/>
            <a:ext cx="47269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Threshold optimization: 9x recall</a:t>
            </a:r>
            <a:br>
              <a:rPr sz="2400" dirty="0"/>
            </a:br>
            <a:r>
              <a:rPr sz="2400" dirty="0"/>
              <a:t>improvement (4% → 35%)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420" y="4472908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810" y="4466927"/>
            <a:ext cx="47269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Explainable AI with Permutation</a:t>
            </a:r>
            <a:br>
              <a:rPr sz="2400" dirty="0"/>
            </a:br>
            <a:r>
              <a:rPr sz="2400" dirty="0"/>
              <a:t>Feature Importance &amp; PDP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1203"/>
            <a:ext cx="365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19814"/>
            <a:ext cx="4754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rPr sz="2400" dirty="0"/>
              <a:t>Interactive </a:t>
            </a:r>
            <a:r>
              <a:rPr sz="2400" dirty="0" err="1"/>
              <a:t>Streamlit</a:t>
            </a:r>
            <a:r>
              <a:rPr sz="2400" dirty="0"/>
              <a:t> dashboard with</a:t>
            </a:r>
            <a:br>
              <a:rPr sz="2400" dirty="0"/>
            </a:br>
            <a:r>
              <a:rPr sz="2400" dirty="0"/>
              <a:t>real-time risk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101" y="1280160"/>
            <a:ext cx="5486400" cy="5029200"/>
          </a:xfrm>
          <a:prstGeom prst="roundRect">
            <a:avLst>
              <a:gd name="adj" fmla="val 10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63500" cy="5029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9710" y="14306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rPr sz="2400" dirty="0"/>
              <a:t>KEY FINDINGS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1828800"/>
            <a:ext cx="13716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01460" y="185008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rPr sz="2400" dirty="0">
                <a:solidFill>
                  <a:srgbClr val="92D050"/>
                </a:solidFill>
              </a:rPr>
              <a:t>Prior Inpatient Visits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460" y="2137747"/>
            <a:ext cx="50545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Strongest predictor of readmission</a:t>
            </a:r>
            <a:r>
              <a:rPr lang="en-US" sz="2400" dirty="0"/>
              <a:t> </a:t>
            </a:r>
            <a:r>
              <a:rPr sz="2400" dirty="0"/>
              <a:t>(5.7% ROC-AUC drop when shuffled)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460" y="283017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rPr sz="2400" dirty="0"/>
              <a:t>Discharge Disposition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460" y="3167452"/>
            <a:ext cx="5149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Second most important feature;</a:t>
            </a:r>
            <a:r>
              <a:rPr lang="en-US" sz="2400" dirty="0"/>
              <a:t> </a:t>
            </a:r>
            <a:r>
              <a:rPr sz="2400" dirty="0"/>
              <a:t>certain types carry higher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2882" y="387658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923C"/>
                </a:solidFill>
                <a:latin typeface="Calibri"/>
              </a:defRPr>
            </a:pPr>
            <a:r>
              <a:rPr sz="2400" dirty="0"/>
              <a:t>Class Imbalance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6018" y="4232688"/>
            <a:ext cx="5059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88.6% vs 11.4% — SMOTE +</a:t>
            </a:r>
            <a:r>
              <a:rPr lang="en-US" sz="2400" dirty="0"/>
              <a:t> </a:t>
            </a:r>
            <a:r>
              <a:rPr sz="2400" dirty="0"/>
              <a:t>threshold tuning address 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9710" y="495696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rPr sz="2400" dirty="0"/>
              <a:t>Clinical Tradeoff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460" y="5297924"/>
            <a:ext cx="5059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sz="2400" dirty="0"/>
              <a:t>Lower threshold = more false alarms</a:t>
            </a:r>
            <a:br>
              <a:rPr sz="2400" dirty="0"/>
            </a:br>
            <a:r>
              <a:rPr sz="2400" dirty="0"/>
              <a:t>but far fewer missed patients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19" cy="5394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96340" y="82685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sz="7200" dirty="0"/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8BDF8"/>
                </a:solidFill>
                <a:latin typeface="Calibri"/>
              </a:defRPr>
            </a:pPr>
            <a:r>
              <a:t>Questions &amp; Live Dashboard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286000"/>
            <a:ext cx="27432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359365"/>
            <a:ext cx="7315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Predictive Analytics and Explainable AI for Hospital </a:t>
            </a:r>
            <a:endParaRPr lang="en-US" dirty="0"/>
          </a:p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Readmission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CS 719 — Data Science Project  |  Winter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Raj Panchal  (200490453)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April 14,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t>Instructor:  Dr. Howard J. Hamilton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5029200" cy="164592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663440"/>
            <a:ext cx="63500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6340" y="47456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rPr dirty="0"/>
              <a:t>LIVE 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5120640"/>
            <a:ext cx="109728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96340" y="5170144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•  Real-time patient risk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6340" y="5501879"/>
            <a:ext cx="4968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•  What-If analysis &amp; scenario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867639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Calibri"/>
              </a:defRPr>
            </a:pPr>
            <a:r>
              <a:rPr sz="2000" dirty="0"/>
              <a:t>•  LACE vs AI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76440" y="1097280"/>
            <a:ext cx="4627880" cy="4864100"/>
          </a:xfrm>
          <a:prstGeom prst="roundRect">
            <a:avLst>
              <a:gd name="adj" fmla="val 1500"/>
            </a:avLst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949440" y="1109980"/>
            <a:ext cx="512064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8480" y="125222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rPr dirty="0">
                <a:solidFill>
                  <a:srgbClr val="33FF8F"/>
                </a:solidFill>
              </a:rPr>
              <a:t>DASHBOARD PREVIEW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691640"/>
            <a:ext cx="109728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76440" y="2071260"/>
            <a:ext cx="4610234" cy="22831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012940" y="451306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Dashboard Link: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95578" y="5029200"/>
            <a:ext cx="4334422" cy="4572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95578" y="5060122"/>
            <a:ext cx="4608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rPr dirty="0"/>
              <a:t>[</a:t>
            </a:r>
            <a:r>
              <a:rPr lang="en-CA" dirty="0">
                <a:solidFill>
                  <a:schemeClr val="bg1"/>
                </a:solidFill>
              </a:rPr>
              <a:t>https://cs719rajpanchal200490453.streamlit.app/</a:t>
            </a:r>
            <a:r>
              <a:rPr dirty="0"/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557949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Auto-deploys from GitHub on every push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0" y="6309360"/>
            <a:ext cx="640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94A3B8"/>
                </a:solidFill>
                <a:latin typeface="Calibri"/>
              </a:defRPr>
            </a:pPr>
            <a:r>
              <a:rPr lang="en-US" sz="2400" b="1" dirty="0">
                <a:solidFill>
                  <a:schemeClr val="bg1"/>
                </a:solidFill>
              </a:rPr>
              <a:t>16</a:t>
            </a:r>
            <a:endParaRPr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167</TotalTime>
  <Words>1250</Words>
  <Application>Microsoft Office PowerPoint</Application>
  <PresentationFormat>Widescreen</PresentationFormat>
  <Paragraphs>277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Panchal</cp:lastModifiedBy>
  <cp:revision>11</cp:revision>
  <dcterms:created xsi:type="dcterms:W3CDTF">2013-01-27T09:14:16Z</dcterms:created>
  <dcterms:modified xsi:type="dcterms:W3CDTF">2026-04-14T23:36:32Z</dcterms:modified>
  <cp:category/>
</cp:coreProperties>
</file>