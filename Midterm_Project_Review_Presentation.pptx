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446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49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957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77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800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26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58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08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120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337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87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07390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288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1307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488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612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92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7186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1097280"/>
            <a:ext cx="36576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599" y="1206500"/>
            <a:ext cx="1061129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Predictive Analytics and</a:t>
            </a:r>
            <a:r>
              <a:rPr lang="en-US" dirty="0"/>
              <a:t> </a:t>
            </a:r>
            <a:r>
              <a:rPr dirty="0"/>
              <a:t>Explainable AI for Hospital</a:t>
            </a:r>
            <a:r>
              <a:rPr lang="en-US" dirty="0"/>
              <a:t> </a:t>
            </a:r>
            <a:r>
              <a:rPr dirty="0"/>
              <a:t>Readmission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227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D4A01E"/>
                </a:solidFill>
                <a:latin typeface="Calibri"/>
              </a:defRPr>
            </a:pPr>
            <a:r>
              <a:rPr sz="4000" dirty="0">
                <a:solidFill>
                  <a:srgbClr val="FFC000"/>
                </a:solidFill>
              </a:rPr>
              <a:t>Midterm Project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023360"/>
            <a:ext cx="27432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ECF0F1"/>
                </a:solidFill>
                <a:latin typeface="Calibri"/>
              </a:defRPr>
            </a:pPr>
            <a:r>
              <a:t>CS 719 — Data Science Project  |  Winter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37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Raj Panchal  (200490453)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94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CF0F1"/>
                </a:solidFill>
                <a:latin typeface="Calibri"/>
              </a:defRPr>
            </a:pPr>
            <a:r>
              <a:t>March 3,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943600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rPr dirty="0"/>
              <a:t>Instructor:  </a:t>
            </a:r>
            <a:r>
              <a:rPr lang="en-US" dirty="0"/>
              <a:t>Dr. </a:t>
            </a:r>
            <a:r>
              <a:rPr dirty="0"/>
              <a:t>Howard J. Hamilton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University of Regina  |  Department of Computer Science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Goal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2/16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09728" cy="13716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280160"/>
            <a:ext cx="105156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2C3E50"/>
                </a:solidFill>
                <a:latin typeface="Calibri"/>
              </a:defRPr>
            </a:pPr>
            <a:r>
              <a:rPr dirty="0"/>
              <a:t>Predict whether a patient will be readmitted within 30 days and explain which clinical factors drive the prediction</a:t>
            </a:r>
            <a:r>
              <a:rPr lang="en-US" dirty="0"/>
              <a:t>,</a:t>
            </a:r>
            <a:r>
              <a:rPr dirty="0"/>
              <a:t> enabling hospitals to intervene early.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356616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2E86C1"/>
                </a:solidFill>
                <a:latin typeface="Calibri"/>
              </a:defRPr>
            </a:pPr>
            <a:r>
              <a:t>$26 B+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t>Annual cost of unplanned</a:t>
            </a:r>
            <a:br/>
            <a:r>
              <a:t>readmissions in the U.S.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10896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3108960"/>
            <a:ext cx="3566160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34747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E67E22"/>
                </a:solidFill>
                <a:latin typeface="Calibri"/>
              </a:defRPr>
            </a:pPr>
            <a:r>
              <a:t>11.4 %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4805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t>Patients in our dataset</a:t>
            </a:r>
            <a:br/>
            <a:r>
              <a:t>readmitted within 30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10896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3108960"/>
            <a:ext cx="356616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34747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27AE60"/>
                </a:solidFill>
                <a:latin typeface="Calibri"/>
              </a:defRPr>
            </a:pPr>
            <a:r>
              <a:t>Preventable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4805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t>Early risk identification</a:t>
            </a:r>
            <a:br/>
            <a:r>
              <a:t>triggers interventions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Method — 6-Step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3/16</a:t>
            </a:r>
          </a:p>
        </p:txBody>
      </p:sp>
      <p:sp>
        <p:nvSpPr>
          <p:cNvPr id="8" name="Oval 7"/>
          <p:cNvSpPr/>
          <p:nvPr/>
        </p:nvSpPr>
        <p:spPr>
          <a:xfrm>
            <a:off x="228600" y="2286000"/>
            <a:ext cx="640080" cy="6400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" y="2286000"/>
            <a:ext cx="1188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C3E50"/>
                </a:solidFill>
                <a:latin typeface="Calibri"/>
              </a:defRPr>
            </a:pPr>
            <a:r>
              <a:rPr dirty="0"/>
              <a:t>Data</a:t>
            </a:r>
            <a:br>
              <a:rPr dirty="0"/>
            </a:br>
            <a:r>
              <a:rPr dirty="0"/>
              <a:t>Cleaning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71650" y="2436451"/>
            <a:ext cx="365760" cy="320040"/>
          </a:xfrm>
          <a:prstGeom prst="rightArrow">
            <a:avLst>
              <a:gd name="adj1" fmla="val 63289"/>
              <a:gd name="adj2" fmla="val 50000"/>
            </a:avLst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194560" y="2276431"/>
            <a:ext cx="640080" cy="64008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7490" y="2268634"/>
            <a:ext cx="1828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C3E50"/>
                </a:solidFill>
                <a:latin typeface="Calibri"/>
              </a:defRPr>
            </a:pPr>
            <a:r>
              <a:rPr dirty="0"/>
              <a:t>Feature</a:t>
            </a:r>
            <a:br>
              <a:rPr dirty="0"/>
            </a:br>
            <a:r>
              <a:rPr dirty="0"/>
              <a:t>Engineering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69080" y="2436451"/>
            <a:ext cx="365760" cy="32004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57700" y="2300886"/>
            <a:ext cx="640080" cy="6400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/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4910" y="2276431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C3E50"/>
                </a:solidFill>
                <a:latin typeface="Calibri"/>
              </a:defRPr>
            </a:pPr>
            <a:r>
              <a:rPr dirty="0"/>
              <a:t>Train 3</a:t>
            </a:r>
            <a:br>
              <a:rPr dirty="0"/>
            </a:br>
            <a:r>
              <a:rPr dirty="0"/>
              <a:t>Models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43600" y="2436451"/>
            <a:ext cx="365760" cy="32004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20790" y="2268634"/>
            <a:ext cx="640080" cy="6400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/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9435" y="2211750"/>
            <a:ext cx="159448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C3E50"/>
                </a:solidFill>
                <a:latin typeface="Calibri"/>
              </a:defRPr>
            </a:pPr>
            <a:r>
              <a:rPr dirty="0"/>
              <a:t>Compare &amp;</a:t>
            </a:r>
            <a:br>
              <a:rPr dirty="0"/>
            </a:br>
            <a:r>
              <a:rPr dirty="0"/>
              <a:t>Select Best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321040" y="2446020"/>
            <a:ext cx="365760" cy="32004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709660" y="2300886"/>
            <a:ext cx="640080" cy="6400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/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4015" y="2233725"/>
            <a:ext cx="174879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C3E50"/>
                </a:solidFill>
                <a:latin typeface="Calibri"/>
              </a:defRPr>
            </a:pPr>
            <a:r>
              <a:rPr dirty="0"/>
              <a:t>Explain</a:t>
            </a:r>
            <a:br>
              <a:rPr dirty="0"/>
            </a:br>
            <a:r>
              <a:rPr dirty="0"/>
              <a:t>(PFI + PDP)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75620" y="2428654"/>
            <a:ext cx="365760" cy="32004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132820" y="2276430"/>
            <a:ext cx="640080" cy="6400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/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72775" y="2888159"/>
            <a:ext cx="174879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C3E50"/>
                </a:solidFill>
                <a:latin typeface="Calibri"/>
              </a:defRPr>
            </a:pPr>
            <a:r>
              <a:rPr dirty="0"/>
              <a:t>Interactive</a:t>
            </a:r>
            <a:br>
              <a:rPr dirty="0"/>
            </a:br>
            <a:r>
              <a:rPr dirty="0"/>
              <a:t>Dashboard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40480"/>
            <a:ext cx="112471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4375" y="3828078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2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•  Cleaned 101,766 records from 130 US hospitals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•  Trained Logistic Regression, Random Forest, and </a:t>
            </a:r>
            <a:r>
              <a:rPr dirty="0" err="1"/>
              <a:t>XGBoost</a:t>
            </a:r>
            <a:endParaRPr dirty="0"/>
          </a:p>
          <a:p>
            <a:pPr>
              <a:spcBef>
                <a:spcPts val="0"/>
              </a:spcBef>
              <a:spcAft>
                <a:spcPts val="1200"/>
              </a:spcAft>
              <a:defRPr sz="2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XGBoost</a:t>
            </a:r>
            <a:r>
              <a:rPr dirty="0"/>
              <a:t> selected as best model (ROC-AUC = 0.671)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•  Explainability via Permutation Feature Importance &amp; Partial Dependence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598187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8603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4/16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59" y="942368"/>
            <a:ext cx="11430000" cy="5029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3977" y="971493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8530" y="971493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0949" y="9895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4" y="960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29017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366713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1366713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Jan 27 - Feb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366713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3E50"/>
                </a:solidFill>
                <a:latin typeface="Calibri"/>
              </a:defRPr>
            </a:pPr>
            <a:r>
              <a:t>Dataset exploration &amp; literature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366713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AE60"/>
                </a:solidFill>
                <a:latin typeface="Calibri"/>
              </a:defRPr>
            </a:pPr>
            <a:r>
              <a:t>✓ Done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787337"/>
            <a:ext cx="11430000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184220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184220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Feb 3 - Feb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184220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3E50"/>
                </a:solidFill>
                <a:latin typeface="Calibri"/>
              </a:defRPr>
            </a:pPr>
            <a:r>
              <a:t>Data cleaning, missing values, encoding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184220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AE60"/>
                </a:solidFill>
                <a:latin typeface="Calibri"/>
              </a:defRPr>
            </a:pPr>
            <a:r>
              <a:t>✓ Done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262825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231768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231768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rPr dirty="0"/>
              <a:t>Feb 10 - Feb 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231768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3E50"/>
                </a:solidFill>
                <a:latin typeface="Calibri"/>
              </a:defRPr>
            </a:pPr>
            <a:r>
              <a:rPr dirty="0"/>
              <a:t>Feature engineering &amp; binary 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31768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AE60"/>
                </a:solidFill>
                <a:latin typeface="Calibri"/>
              </a:defRPr>
            </a:pPr>
            <a:r>
              <a:t>✓ Done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738313"/>
            <a:ext cx="11430000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279317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2793177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Feb 17 - Feb 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2793177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3E50"/>
                </a:solidFill>
                <a:latin typeface="Calibri"/>
              </a:defRPr>
            </a:pPr>
            <a:r>
              <a:t>Model training: LR, RF, XGBoost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793177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AE60"/>
                </a:solidFill>
                <a:latin typeface="Calibri"/>
              </a:defRPr>
            </a:pPr>
            <a:r>
              <a:t>✓ Done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213801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3268665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268665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Feb 24 - Mar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268665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3E50"/>
                </a:solidFill>
                <a:latin typeface="Calibri"/>
              </a:defRPr>
            </a:pPr>
            <a:r>
              <a:t>Evaluation, model selection, midterm prep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3268665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AE60"/>
                </a:solidFill>
                <a:latin typeface="Calibri"/>
              </a:defRPr>
            </a:pPr>
            <a:r>
              <a:t>✓ Done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3689289"/>
            <a:ext cx="11430000" cy="475488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011680" y="3744153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67E22"/>
                </a:solidFill>
                <a:latin typeface="Calibri"/>
              </a:defRPr>
            </a:pPr>
            <a:r>
              <a:t>Mar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3744153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67E22"/>
                </a:solidFill>
                <a:latin typeface="Calibri"/>
              </a:defRPr>
            </a:pPr>
            <a:r>
              <a:t>MILESTONE: Mid-Term Review (TODAY)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3744153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67E22"/>
                </a:solidFill>
                <a:latin typeface="Calibri"/>
              </a:defRPr>
            </a:pPr>
            <a:r>
              <a:t>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164777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421964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Week 6-7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421964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Mar 4 - Mar 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421964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3E50"/>
                </a:solidFill>
                <a:latin typeface="Calibri"/>
              </a:defRPr>
            </a:pPr>
            <a:r>
              <a:t>Hyperparameter tuning &amp; explainability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421964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Upcoming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640265"/>
            <a:ext cx="11430000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" y="469512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Week 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11680" y="469512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Mar 18 - Mar 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469512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3E50"/>
                </a:solidFill>
                <a:latin typeface="Calibri"/>
              </a:defRPr>
            </a:pPr>
            <a:r>
              <a:t>Visualization of predictions &amp; results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469512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Upcoming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115753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080" y="517061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Wk 9-10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11680" y="5170617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Mar 25 - Apr 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0" y="5170617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3E50"/>
                </a:solidFill>
                <a:latin typeface="Calibri"/>
              </a:defRPr>
            </a:pPr>
            <a:r>
              <a:t>Draft report: all sections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5170617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Upcoming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591241"/>
            <a:ext cx="11430000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" y="5646105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Wk 11-12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11680" y="5646105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Apr 8 - Apr 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0" y="5646105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3E50"/>
                </a:solidFill>
                <a:latin typeface="Calibri"/>
              </a:defRPr>
            </a:pPr>
            <a:r>
              <a:t>Review, proofreading &amp; submission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0" y="5646105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Upcoming</a:t>
            </a:r>
          </a:p>
        </p:txBody>
      </p:sp>
      <p:sp>
        <p:nvSpPr>
          <p:cNvPr id="62" name="Rounded Rectangle 61"/>
          <p:cNvSpPr/>
          <p:nvPr/>
        </p:nvSpPr>
        <p:spPr>
          <a:xfrm rot="10800000">
            <a:off x="365760" y="5981667"/>
            <a:ext cx="11430000" cy="475488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011680" y="597273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67E22"/>
                </a:solidFill>
                <a:latin typeface="Calibri"/>
              </a:defRPr>
            </a:pPr>
            <a:r>
              <a:t>Apr 24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597273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67E22"/>
                </a:solidFill>
                <a:latin typeface="Calibri"/>
              </a:defRPr>
            </a:pPr>
            <a:r>
              <a:rPr dirty="0"/>
              <a:t>MILESTONE: Final Report Due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01200" y="597273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67E22"/>
                </a:solidFill>
                <a:latin typeface="Calibri"/>
              </a:defRPr>
            </a:pPr>
            <a:r>
              <a:t>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Achievement 1 — Data Preparation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5/16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280160"/>
            <a:ext cx="11740471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  <a:defRPr sz="26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•  Cleaned 101,766 records from 130 US hospitals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26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•  Dropped 4 high-null + 2 zero-variance columns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26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•  Removed 2,426 expired/hospice rows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26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•  Engineered 4 new features: </a:t>
            </a:r>
            <a:r>
              <a:rPr dirty="0" err="1"/>
              <a:t>total_visits</a:t>
            </a:r>
            <a:r>
              <a:rPr dirty="0"/>
              <a:t>, </a:t>
            </a:r>
            <a:r>
              <a:rPr dirty="0" err="1"/>
              <a:t>num_med_changed</a:t>
            </a:r>
            <a:r>
              <a:rPr dirty="0"/>
              <a:t>,</a:t>
            </a:r>
            <a:br>
              <a:rPr dirty="0"/>
            </a:br>
            <a:r>
              <a:rPr dirty="0"/>
              <a:t>   </a:t>
            </a:r>
            <a:r>
              <a:rPr dirty="0" err="1"/>
              <a:t>num_med_active</a:t>
            </a:r>
            <a:r>
              <a:rPr dirty="0"/>
              <a:t>, </a:t>
            </a:r>
            <a:r>
              <a:rPr dirty="0" err="1"/>
              <a:t>age_numeric</a:t>
            </a:r>
            <a:endParaRPr dirty="0"/>
          </a:p>
          <a:p>
            <a:pPr>
              <a:spcBef>
                <a:spcPts val="0"/>
              </a:spcBef>
              <a:spcAft>
                <a:spcPts val="1600"/>
              </a:spcAft>
              <a:defRPr sz="26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•  Binary target: readmitted &lt;30 days = 1 (11.4%),  else = 0 (88.6%)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37760"/>
            <a:ext cx="53035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109728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74C3C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101,766 rows  ×  50 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937760"/>
            <a:ext cx="53035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4937760"/>
            <a:ext cx="109728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7AE60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440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99,340 rows  ×  23 columns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Target Variable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6/16</a:t>
            </a:r>
          </a:p>
        </p:txBody>
      </p:sp>
      <p:pic>
        <p:nvPicPr>
          <p:cNvPr id="9" name="Picture 8" descr="chart_19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56" y="1170432"/>
            <a:ext cx="7742629" cy="506616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12480" y="109728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80" y="1097280"/>
            <a:ext cx="3474720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D4A01E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01168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4000" b="1">
                <a:solidFill>
                  <a:srgbClr val="27AE60"/>
                </a:solidFill>
                <a:latin typeface="Calibri"/>
              </a:defRPr>
            </a:pPr>
            <a:r>
              <a:t>88.6%</a:t>
            </a:r>
          </a:p>
          <a:p>
            <a:pPr>
              <a:spcBef>
                <a:spcPts val="0"/>
              </a:spcBef>
              <a:spcAft>
                <a:spcPts val="240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t>Not readmitted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4000" b="1">
                <a:solidFill>
                  <a:srgbClr val="E74C3C"/>
                </a:solidFill>
                <a:latin typeface="Calibri"/>
              </a:defRPr>
            </a:pPr>
            <a:r>
              <a:t>11.4%</a:t>
            </a:r>
          </a:p>
          <a:p>
            <a:pPr>
              <a:spcBef>
                <a:spcPts val="0"/>
              </a:spcBef>
              <a:spcAft>
                <a:spcPts val="240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t>Readmitted</a:t>
            </a:r>
            <a:br/>
            <a:r>
              <a:t>within 30 days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E67E22"/>
                </a:solidFill>
                <a:latin typeface="Calibri"/>
              </a:defRPr>
            </a:pPr>
            <a:r>
              <a:t>Severe class</a:t>
            </a:r>
            <a:br/>
            <a:r>
              <a:t>imbalance!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Discovery — Readmission by Prior Visits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7/16</a:t>
            </a:r>
          </a:p>
        </p:txBody>
      </p:sp>
      <p:pic>
        <p:nvPicPr>
          <p:cNvPr id="9" name="Picture 8" descr="chart_24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5" y="966821"/>
            <a:ext cx="9218427" cy="535051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324753" y="1097280"/>
            <a:ext cx="2806994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363741" y="1097280"/>
            <a:ext cx="2721933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79935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D4A01E"/>
                </a:solidFill>
                <a:latin typeface="Calibri"/>
              </a:defRPr>
            </a:pPr>
            <a:r>
              <a:rPr dirty="0"/>
              <a:t>Key Finding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90568" y="192024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0"/>
              </a:spcAft>
              <a:defRPr sz="2400" b="1">
                <a:solidFill>
                  <a:srgbClr val="2C3E50"/>
                </a:solidFill>
                <a:latin typeface="Calibri"/>
              </a:defRPr>
            </a:pPr>
            <a:r>
              <a:rPr dirty="0"/>
              <a:t>Prior inpatient</a:t>
            </a:r>
            <a:br>
              <a:rPr dirty="0"/>
            </a:br>
            <a:r>
              <a:rPr dirty="0"/>
              <a:t>visits = strongest</a:t>
            </a:r>
            <a:br>
              <a:rPr dirty="0"/>
            </a:br>
            <a:r>
              <a:rPr dirty="0"/>
              <a:t>predictor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27AE60"/>
                </a:solidFill>
                <a:latin typeface="Calibri"/>
              </a:defRPr>
            </a:pPr>
            <a:r>
              <a:rPr dirty="0"/>
              <a:t>0 visits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2200" b="0">
                <a:solidFill>
                  <a:srgbClr val="27AE60"/>
                </a:solidFill>
                <a:latin typeface="Calibri"/>
              </a:defRPr>
            </a:pPr>
            <a:r>
              <a:rPr dirty="0"/>
              <a:t>9% readmission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E67E22"/>
                </a:solidFill>
                <a:latin typeface="Calibri"/>
              </a:defRPr>
            </a:pPr>
            <a:r>
              <a:rPr dirty="0"/>
              <a:t>4 visits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2200" b="0">
                <a:solidFill>
                  <a:srgbClr val="E67E22"/>
                </a:solidFill>
                <a:latin typeface="Calibri"/>
              </a:defRPr>
            </a:pPr>
            <a:r>
              <a:rPr dirty="0"/>
              <a:t>25% readmission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E74C3C"/>
                </a:solidFill>
                <a:latin typeface="Calibri"/>
              </a:defRPr>
            </a:pPr>
            <a:r>
              <a:rPr dirty="0"/>
              <a:t>8 visits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74C3C"/>
                </a:solidFill>
                <a:latin typeface="Calibri"/>
              </a:defRPr>
            </a:pPr>
            <a:r>
              <a:rPr dirty="0"/>
              <a:t>47% readmission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Achievement 2 — Model Training &amp;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8/16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5661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56616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E86C1"/>
                </a:solidFill>
                <a:latin typeface="Calibri"/>
              </a:defRPr>
            </a:pPr>
            <a:r>
              <a:t>Logistic</a:t>
            </a:r>
            <a:br/>
            <a:r>
              <a:t>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Linear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926080"/>
            <a:ext cx="265176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Accuracy: 64.0%</a:t>
            </a:r>
            <a:br/>
            <a:r>
              <a:t>ROC-AUC: 0.642</a:t>
            </a:r>
            <a:br/>
            <a:r>
              <a:t>Recall: 55%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80160"/>
            <a:ext cx="35661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3566160" cy="7315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15544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E44AD"/>
                </a:solidFill>
                <a:latin typeface="Calibri"/>
              </a:defRPr>
            </a:pPr>
            <a:r>
              <a:t>Random</a:t>
            </a:r>
            <a:br/>
            <a:r>
              <a:t>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Ensemble (Bagging)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926080"/>
            <a:ext cx="2651760" cy="381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3200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Accuracy: 88.0%</a:t>
            </a:r>
            <a:br/>
            <a:r>
              <a:t>ROC-AUC: 0.653</a:t>
            </a:r>
            <a:br/>
            <a:r>
              <a:t>Recall: 6%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280160"/>
            <a:ext cx="35661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8160" y="1280160"/>
            <a:ext cx="356616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15544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7AE60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Ensemble (Boosting)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2926080"/>
            <a:ext cx="265176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0" y="3200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Accuracy: 88.6%</a:t>
            </a:r>
            <a:br/>
            <a:r>
              <a:t>ROC-AUC: 0.671</a:t>
            </a:r>
            <a:br/>
            <a:r>
              <a:t>Recall: 2%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9884" y="5322659"/>
            <a:ext cx="3749039" cy="9601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5398859"/>
            <a:ext cx="35661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⭐  </a:t>
            </a:r>
            <a:r>
              <a:rPr dirty="0" err="1"/>
              <a:t>XGBoost</a:t>
            </a:r>
            <a:r>
              <a:rPr dirty="0"/>
              <a:t> Selected — Best ROC-AUC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Model Evaluation — Confusion Matrices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9/16</a:t>
            </a:r>
          </a:p>
        </p:txBody>
      </p:sp>
      <p:pic>
        <p:nvPicPr>
          <p:cNvPr id="9" name="Picture 8" descr="chart_36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5840"/>
            <a:ext cx="12089706" cy="50956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Model Evaluation — ROC Curves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10/16</a:t>
            </a:r>
          </a:p>
        </p:txBody>
      </p:sp>
      <p:pic>
        <p:nvPicPr>
          <p:cNvPr id="9" name="Picture 8" descr="chart_37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" y="960429"/>
            <a:ext cx="8201955" cy="53667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12480" y="1097280"/>
            <a:ext cx="34747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80" y="1097280"/>
            <a:ext cx="347472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D4A01E"/>
                </a:solidFill>
                <a:latin typeface="Calibri"/>
              </a:defRPr>
            </a:pPr>
            <a:r>
              <a:t>ROC-AUC 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03120"/>
            <a:ext cx="2926080" cy="4355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27AE60"/>
                </a:solidFill>
                <a:latin typeface="Calibri"/>
              </a:defRPr>
            </a:pPr>
            <a:r>
              <a:rPr dirty="0" err="1"/>
              <a:t>XGBoost</a:t>
            </a:r>
            <a:endParaRPr dirty="0"/>
          </a:p>
          <a:p>
            <a:pPr>
              <a:spcBef>
                <a:spcPts val="0"/>
              </a:spcBef>
              <a:spcAft>
                <a:spcPts val="1600"/>
              </a:spcAft>
              <a:defRPr sz="4000" b="1">
                <a:solidFill>
                  <a:srgbClr val="27AE60"/>
                </a:solidFill>
                <a:latin typeface="Calibri"/>
              </a:defRPr>
            </a:pPr>
            <a:r>
              <a:rPr dirty="0"/>
              <a:t>0.671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E44AD"/>
                </a:solidFill>
                <a:latin typeface="Calibri"/>
              </a:defRPr>
            </a:pPr>
            <a:r>
              <a:rPr dirty="0"/>
              <a:t>Random Forest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4000" b="1">
                <a:solidFill>
                  <a:srgbClr val="8E44AD"/>
                </a:solidFill>
                <a:latin typeface="Calibri"/>
              </a:defRPr>
            </a:pPr>
            <a:r>
              <a:rPr dirty="0"/>
              <a:t>0.653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2E86C1"/>
                </a:solidFill>
                <a:latin typeface="Calibri"/>
              </a:defRPr>
            </a:pPr>
            <a:r>
              <a:rPr dirty="0"/>
              <a:t>Logistic Reg.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4000" b="1">
                <a:solidFill>
                  <a:srgbClr val="2E86C1"/>
                </a:solidFill>
                <a:latin typeface="Calibri"/>
              </a:defRPr>
            </a:pPr>
            <a:r>
              <a:rPr dirty="0"/>
              <a:t>0.642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rPr dirty="0"/>
              <a:t>All above 0.5</a:t>
            </a:r>
            <a:r>
              <a:rPr lang="en-US" dirty="0"/>
              <a:t> </a:t>
            </a:r>
            <a:r>
              <a:rPr dirty="0"/>
              <a:t>random baseline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Achievement 3 — Permutation Feature Importance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11/16</a:t>
            </a:r>
          </a:p>
        </p:txBody>
      </p:sp>
      <p:pic>
        <p:nvPicPr>
          <p:cNvPr id="9" name="Picture 8" descr="chart_44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31" y="956548"/>
            <a:ext cx="8226262" cy="53826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12480" y="109728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80" y="1097280"/>
            <a:ext cx="3474720" cy="7315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D4A01E"/>
                </a:solidFill>
                <a:latin typeface="Calibri"/>
              </a:defRPr>
            </a:pPr>
            <a:r>
              <a:t>Top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0312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E74C3C"/>
                </a:solidFill>
                <a:latin typeface="Calibri"/>
              </a:defRPr>
            </a:pPr>
            <a:r>
              <a:rPr dirty="0"/>
              <a:t>#1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E74C3C"/>
                </a:solidFill>
                <a:latin typeface="Calibri"/>
              </a:defRPr>
            </a:pPr>
            <a:r>
              <a:rPr dirty="0" err="1"/>
              <a:t>number_inpatient</a:t>
            </a:r>
            <a:endParaRPr dirty="0"/>
          </a:p>
          <a:p>
            <a:pPr>
              <a:spcBef>
                <a:spcPts val="0"/>
              </a:spcBef>
              <a:spcAft>
                <a:spcPts val="2000"/>
              </a:spcAft>
              <a:defRPr sz="1800" b="0">
                <a:solidFill>
                  <a:srgbClr val="7F8C8D"/>
                </a:solidFill>
                <a:latin typeface="Calibri"/>
              </a:defRPr>
            </a:pPr>
            <a:r>
              <a:rPr dirty="0"/>
              <a:t>(prior hospital visits)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E67E22"/>
                </a:solidFill>
                <a:latin typeface="Calibri"/>
              </a:defRPr>
            </a:pPr>
            <a:r>
              <a:rPr dirty="0"/>
              <a:t>#2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E67E22"/>
                </a:solidFill>
                <a:latin typeface="Calibri"/>
              </a:defRPr>
            </a:pPr>
            <a:r>
              <a:rPr dirty="0"/>
              <a:t>discharge_</a:t>
            </a:r>
            <a:br>
              <a:rPr dirty="0"/>
            </a:br>
            <a:r>
              <a:rPr dirty="0" err="1"/>
              <a:t>disposition_id</a:t>
            </a:r>
            <a:endParaRPr dirty="0"/>
          </a:p>
          <a:p>
            <a:pPr>
              <a:spcBef>
                <a:spcPts val="0"/>
              </a:spcBef>
              <a:spcAft>
                <a:spcPts val="2000"/>
              </a:spcAft>
              <a:defRPr sz="1800" b="0">
                <a:solidFill>
                  <a:srgbClr val="7F8C8D"/>
                </a:solidFill>
                <a:latin typeface="Calibri"/>
              </a:defRPr>
            </a:pPr>
            <a:r>
              <a:rPr dirty="0"/>
              <a:t>(where patient sent)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2E86C1"/>
                </a:solidFill>
                <a:latin typeface="Calibri"/>
              </a:defRPr>
            </a:pPr>
            <a:r>
              <a:rPr dirty="0"/>
              <a:t>#3</a:t>
            </a:r>
            <a:endParaRPr lang="en-CA" dirty="0"/>
          </a:p>
          <a:p>
            <a:pPr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E86C1"/>
                </a:solidFill>
                <a:latin typeface="Calibri"/>
              </a:defRPr>
            </a:pPr>
            <a:r>
              <a:rPr lang="en-CA" dirty="0" err="1"/>
              <a:t>number_diagnoses</a:t>
            </a:r>
            <a:endParaRPr lang="en-CA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Threshold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12/16</a:t>
            </a:r>
          </a:p>
        </p:txBody>
      </p:sp>
      <p:pic>
        <p:nvPicPr>
          <p:cNvPr id="9" name="Picture 8" descr="chart_48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6" y="1029170"/>
            <a:ext cx="8074932" cy="528359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12480" y="109728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80" y="1097280"/>
            <a:ext cx="109728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1280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74C3C"/>
                </a:solidFill>
                <a:latin typeface="Calibri"/>
              </a:defRPr>
            </a:pPr>
            <a:r>
              <a:t>BEFORE (t = 0.50)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73736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2800" b="1">
                <a:solidFill>
                  <a:srgbClr val="2C3E50"/>
                </a:solidFill>
                <a:latin typeface="Calibri"/>
              </a:defRPr>
            </a:pPr>
            <a:r>
              <a:t>Recall: 2%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t>Only 44 of 2,263</a:t>
            </a:r>
            <a:br/>
            <a:r>
              <a:t>readmissions caught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3657600"/>
            <a:ext cx="34747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12480" y="3657600"/>
            <a:ext cx="109728" cy="2468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0" y="3840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7AE60"/>
                </a:solidFill>
                <a:latin typeface="Calibri"/>
              </a:defRPr>
            </a:pPr>
            <a:r>
              <a:t>AFTER (t = 0.15)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29768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2800" b="1">
                <a:solidFill>
                  <a:srgbClr val="2C3E50"/>
                </a:solidFill>
                <a:latin typeface="Calibri"/>
              </a:defRPr>
            </a:pPr>
            <a:r>
              <a:t>Recall: 44%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2200" b="1">
                <a:solidFill>
                  <a:srgbClr val="2C3E50"/>
                </a:solidFill>
                <a:latin typeface="Calibri"/>
              </a:defRPr>
            </a:pPr>
            <a:r>
              <a:t>1,004 of 2,263</a:t>
            </a:r>
            <a:br/>
            <a:r>
              <a:t>readmissions caught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7AE60"/>
                </a:solidFill>
                <a:latin typeface="Calibri"/>
              </a:defRPr>
            </a:pPr>
            <a:r>
              <a:t>22× improvement!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Biggest Problem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13/16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09728" cy="1280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280160"/>
            <a:ext cx="21754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74C3C"/>
                </a:solidFill>
                <a:latin typeface="Calibri"/>
              </a:defRPr>
            </a:pPr>
            <a:r>
              <a:rPr dirty="0"/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Severe class imbalance (88.6% vs 11.4%) — </a:t>
            </a:r>
            <a:r>
              <a:rPr dirty="0" err="1"/>
              <a:t>XGBoost</a:t>
            </a:r>
            <a:r>
              <a:rPr dirty="0"/>
              <a:t> at default threshold</a:t>
            </a:r>
            <a:br>
              <a:rPr dirty="0"/>
            </a:br>
            <a:r>
              <a:rPr dirty="0"/>
              <a:t>achieves 88.6% accuracy but catches only 2% of actual readmissions.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34640"/>
            <a:ext cx="53949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109728" cy="3108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926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7AE60"/>
                </a:solidFill>
                <a:latin typeface="Calibri"/>
              </a:defRPr>
            </a:pPr>
            <a:r>
              <a:t>SOLUTION 1: SMOTE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2400" b="0">
                <a:solidFill>
                  <a:srgbClr val="2C3E50"/>
                </a:solidFill>
                <a:latin typeface="Calibri"/>
              </a:defRPr>
            </a:pPr>
            <a:r>
              <a:t>•  Oversample minority class on</a:t>
            </a:r>
            <a:br/>
            <a:r>
              <a:t>   training data only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400" b="0">
                <a:solidFill>
                  <a:srgbClr val="2C3E50"/>
                </a:solidFill>
                <a:latin typeface="Calibri"/>
              </a:defRPr>
            </a:pPr>
            <a:r>
              <a:t>•  Balanced: 70,421 per class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C3E50"/>
                </a:solidFill>
                <a:latin typeface="Calibri"/>
              </a:defRPr>
            </a:pPr>
            <a:r>
              <a:t>•  Test set untouched (no leakage)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834640"/>
            <a:ext cx="53949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2834640"/>
            <a:ext cx="109728" cy="3108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926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7AE60"/>
                </a:solidFill>
                <a:latin typeface="Calibri"/>
              </a:defRPr>
            </a:pPr>
            <a:r>
              <a:t>SOLUTION 2: Threshold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747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2400" b="0">
                <a:solidFill>
                  <a:srgbClr val="2C3E50"/>
                </a:solidFill>
                <a:latin typeface="Calibri"/>
              </a:defRPr>
            </a:pPr>
            <a:r>
              <a:t>•  Default 0.50 too conservative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400" b="0">
                <a:solidFill>
                  <a:srgbClr val="2C3E50"/>
                </a:solidFill>
                <a:latin typeface="Calibri"/>
              </a:defRPr>
            </a:pPr>
            <a:r>
              <a:t>•  Optimal threshold: 0.15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E86C1"/>
                </a:solidFill>
                <a:latin typeface="Calibri"/>
              </a:defRPr>
            </a:pPr>
            <a:r>
              <a:t>•  Recall: 2% → 44%</a:t>
            </a:r>
            <a:br/>
            <a:r>
              <a:t>   (catches 22× more)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Schedule &amp; Progress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14/16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09728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234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7AE60"/>
                </a:solidFill>
                <a:latin typeface="Calibri"/>
              </a:defRPr>
            </a:pPr>
            <a:r>
              <a:rPr dirty="0"/>
              <a:t>On schedule. No revisions needed. All Week 1-5 milestones completed on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48416"/>
            <a:ext cx="75831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2200" b="1">
                <a:solidFill>
                  <a:srgbClr val="27AE60"/>
                </a:solidFill>
                <a:latin typeface="Calibri"/>
              </a:defRPr>
            </a:pPr>
            <a:r>
              <a:rPr dirty="0"/>
              <a:t>COMPLETED (Weeks 1-5)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✓  Dataset exploration &amp; literature review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✓  Data cleaning, missing values, encoding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✓  Feature engineering &amp; binary target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✓  Model training: LR, RF, </a:t>
            </a:r>
            <a:r>
              <a:rPr dirty="0" err="1"/>
              <a:t>XGBoost</a:t>
            </a:r>
            <a:endParaRPr dirty="0"/>
          </a:p>
          <a:p>
            <a:pPr>
              <a:spcBef>
                <a:spcPts val="0"/>
              </a:spcBef>
              <a:spcAft>
                <a:spcPts val="1600"/>
              </a:spcAft>
              <a:defRPr sz="2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✓  Evaluation, selection &amp; midterm prep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200" b="1">
                <a:solidFill>
                  <a:srgbClr val="2E86C1"/>
                </a:solidFill>
                <a:latin typeface="Calibri"/>
              </a:defRPr>
            </a:pPr>
            <a:r>
              <a:rPr dirty="0"/>
              <a:t>UPCOMING (Weeks 6-12)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○  Hyperparameter tuning &amp; explainability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○  Visualization &amp; </a:t>
            </a:r>
            <a:r>
              <a:rPr dirty="0" err="1">
                <a:solidFill>
                  <a:schemeClr val="bg1"/>
                </a:solidFill>
              </a:rPr>
              <a:t>Streamlit</a:t>
            </a:r>
            <a:r>
              <a:rPr dirty="0">
                <a:solidFill>
                  <a:schemeClr val="bg1"/>
                </a:solidFill>
              </a:rPr>
              <a:t> dashboard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○  Final report (all sections)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103120"/>
            <a:ext cx="39319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0" y="2103120"/>
            <a:ext cx="3931920" cy="7315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D4A01E"/>
                </a:solidFill>
                <a:latin typeface="Calibri"/>
              </a:defRPr>
            </a:pPr>
            <a:r>
              <a:t>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9260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D4A01E"/>
                </a:solidFill>
                <a:latin typeface="Calibri"/>
              </a:defRPr>
            </a:pPr>
            <a:r>
              <a:t>42%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023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7F8C8D"/>
                </a:solidFill>
                <a:latin typeface="Calibri"/>
              </a:defRPr>
            </a:pPr>
            <a:r>
              <a:t>5 of 12 weeks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663440"/>
            <a:ext cx="3017520" cy="36576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0" y="4663440"/>
            <a:ext cx="1267358" cy="365760"/>
          </a:xfrm>
          <a:prstGeom prst="round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0" y="5212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7AE60"/>
                </a:solidFill>
                <a:latin typeface="Calibri"/>
              </a:defRPr>
            </a:pPr>
            <a:r>
              <a:t>Risk: 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623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No blockers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This Project Should Continue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15/16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532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09728" cy="2331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E86C1"/>
                </a:solidFill>
                <a:latin typeface="Calibri"/>
              </a:defRPr>
            </a:pPr>
            <a:r>
              <a:t>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Strong Foundation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48463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rPr dirty="0"/>
              <a:t>Complete pipeline from 101,766 raw records</a:t>
            </a:r>
            <a:r>
              <a:rPr lang="en-US" dirty="0"/>
              <a:t> </a:t>
            </a:r>
            <a:r>
              <a:rPr dirty="0"/>
              <a:t>to trained, evaluated </a:t>
            </a:r>
            <a:r>
              <a:rPr dirty="0" err="1"/>
              <a:t>XGBoost</a:t>
            </a:r>
            <a:r>
              <a:rPr dirty="0"/>
              <a:t>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188720"/>
            <a:ext cx="5532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188720"/>
            <a:ext cx="109728" cy="2331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7AE60"/>
                </a:solidFill>
                <a:latin typeface="Calibri"/>
              </a:defRPr>
            </a:pPr>
            <a:r>
              <a:t>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Clear Path to Completion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0116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t>Remaining work well-defined:</a:t>
            </a:r>
            <a:br/>
            <a:r>
              <a:t>tuning, explainability, dashboard, report.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5532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109728" cy="2331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67E22"/>
                </a:solidFill>
                <a:latin typeface="Calibri"/>
              </a:defRPr>
            </a:pPr>
            <a:r>
              <a:t>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23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Real-World Clinical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17720"/>
            <a:ext cx="48463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rPr dirty="0"/>
              <a:t>Readmissions cost $26B+. Explainable</a:t>
            </a:r>
            <a:br>
              <a:rPr dirty="0"/>
            </a:br>
            <a:r>
              <a:rPr dirty="0"/>
              <a:t>prediction enable</a:t>
            </a:r>
            <a:r>
              <a:rPr lang="en-US" dirty="0"/>
              <a:t>s</a:t>
            </a:r>
            <a:r>
              <a:rPr dirty="0"/>
              <a:t> targeted interventions.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794760"/>
            <a:ext cx="5532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3794760"/>
            <a:ext cx="109728" cy="2331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9400" y="3977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E44AD"/>
                </a:solidFill>
                <a:latin typeface="Calibri"/>
              </a:defRPr>
            </a:pPr>
            <a:r>
              <a:t>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023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On Schedule, No Blockers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617720"/>
            <a:ext cx="48463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rPr dirty="0"/>
              <a:t>All 5 weeks done on time. Class imbalance</a:t>
            </a:r>
            <a:r>
              <a:rPr lang="en-US" dirty="0"/>
              <a:t> </a:t>
            </a:r>
            <a:r>
              <a:rPr dirty="0"/>
              <a:t>solved. On track for April 24 deadline.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29487" y="560955"/>
            <a:ext cx="103327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rPr sz="9600" dirty="0"/>
              <a:t>Thank You</a:t>
            </a:r>
            <a:r>
              <a:rPr lang="en-US" sz="9600" dirty="0"/>
              <a:t> !</a:t>
            </a:r>
            <a:endParaRPr sz="9600" dirty="0"/>
          </a:p>
        </p:txBody>
      </p:sp>
      <p:sp>
        <p:nvSpPr>
          <p:cNvPr id="4" name="Rectangle 3"/>
          <p:cNvSpPr/>
          <p:nvPr/>
        </p:nvSpPr>
        <p:spPr>
          <a:xfrm>
            <a:off x="5029200" y="2281745"/>
            <a:ext cx="210312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2647505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ECF0F1"/>
                </a:solidFill>
                <a:latin typeface="Calibri"/>
              </a:defRPr>
            </a:pPr>
            <a:r>
              <a:rPr dirty="0"/>
              <a:t>Predictive Analytics and Explainable AI</a:t>
            </a:r>
            <a:br>
              <a:rPr dirty="0"/>
            </a:br>
            <a:r>
              <a:rPr dirty="0"/>
              <a:t>for Hospital Readmission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561905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D4A01E"/>
                </a:solidFill>
                <a:latin typeface="Calibri"/>
              </a:defRPr>
            </a:pPr>
            <a:r>
              <a:t>Midterm Project Review  |  CS 719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201985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CF0F1"/>
                </a:solidFill>
                <a:latin typeface="Calibri"/>
              </a:defRPr>
            </a:pPr>
            <a:r>
              <a:t>Raj Panchal (200490453)  |  March 3,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750625"/>
            <a:ext cx="8503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rPr dirty="0"/>
              <a:t>Instructor: </a:t>
            </a:r>
            <a:r>
              <a:rPr lang="en-US" dirty="0"/>
              <a:t>Dr. </a:t>
            </a:r>
            <a:r>
              <a:rPr dirty="0"/>
              <a:t>Howard J. Hamilton  |  University of Regina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390707"/>
            <a:ext cx="8503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D4A01E"/>
                </a:solidFill>
                <a:latin typeface="Calibri"/>
              </a:defRPr>
            </a:pPr>
            <a:r>
              <a:rPr sz="4800" dirty="0"/>
              <a:t>Questions?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40</TotalTime>
  <Words>1080</Words>
  <Application>Microsoft Office PowerPoint</Application>
  <PresentationFormat>Widescreen</PresentationFormat>
  <Paragraphs>221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 Panchal</cp:lastModifiedBy>
  <cp:revision>9</cp:revision>
  <dcterms:created xsi:type="dcterms:W3CDTF">2013-01-27T09:14:16Z</dcterms:created>
  <dcterms:modified xsi:type="dcterms:W3CDTF">2026-03-03T23:32:18Z</dcterms:modified>
  <cp:category/>
</cp:coreProperties>
</file>